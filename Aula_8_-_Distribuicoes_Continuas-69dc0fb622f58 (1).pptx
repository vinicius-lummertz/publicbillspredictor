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58" r:id="rId3"/>
    <p:sldId id="364" r:id="rId4"/>
    <p:sldId id="365" r:id="rId5"/>
    <p:sldId id="366" r:id="rId6"/>
    <p:sldId id="367" r:id="rId7"/>
    <p:sldId id="368" r:id="rId8"/>
    <p:sldId id="369" r:id="rId9"/>
    <p:sldId id="371" r:id="rId10"/>
    <p:sldId id="370" r:id="rId11"/>
    <p:sldId id="372" r:id="rId12"/>
    <p:sldId id="373" r:id="rId13"/>
    <p:sldId id="353" r:id="rId14"/>
    <p:sldId id="331" r:id="rId15"/>
    <p:sldId id="332" r:id="rId16"/>
    <p:sldId id="333" r:id="rId17"/>
    <p:sldId id="334" r:id="rId18"/>
    <p:sldId id="335" r:id="rId19"/>
    <p:sldId id="354" r:id="rId20"/>
    <p:sldId id="311" r:id="rId21"/>
    <p:sldId id="312" r:id="rId22"/>
    <p:sldId id="313" r:id="rId23"/>
    <p:sldId id="374" r:id="rId24"/>
    <p:sldId id="359" r:id="rId25"/>
    <p:sldId id="360" r:id="rId26"/>
    <p:sldId id="361" r:id="rId27"/>
    <p:sldId id="321" r:id="rId28"/>
    <p:sldId id="362" r:id="rId29"/>
    <p:sldId id="363" r:id="rId30"/>
    <p:sldId id="375" r:id="rId31"/>
    <p:sldId id="376" r:id="rId32"/>
    <p:sldId id="377" r:id="rId33"/>
    <p:sldId id="378" r:id="rId34"/>
    <p:sldId id="329" r:id="rId35"/>
    <p:sldId id="379" r:id="rId36"/>
    <p:sldId id="380" r:id="rId37"/>
    <p:sldId id="381" r:id="rId38"/>
    <p:sldId id="382" r:id="rId39"/>
    <p:sldId id="383" r:id="rId40"/>
    <p:sldId id="384" r:id="rId41"/>
    <p:sldId id="262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F89D1-B062-4A58-95BD-BFA80A5D17B9}" v="250" dt="2026-04-12T21:25:41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" y="5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Windows Live" clId="Web-{2AF0A566-C3E4-ED3D-F01A-00C85511E102}"/>
    <pc:docChg chg="addSld delSld modSld sldOrd">
      <pc:chgData name="Fabio Bittencourt" userId="9399af9f441dfb25" providerId="Windows Live" clId="Web-{2AF0A566-C3E4-ED3D-F01A-00C85511E102}" dt="2026-04-01T19:21:37.304" v="2357" actId="1076"/>
      <pc:docMkLst>
        <pc:docMk/>
      </pc:docMkLst>
      <pc:sldChg chg="modSp">
        <pc:chgData name="Fabio Bittencourt" userId="9399af9f441dfb25" providerId="Windows Live" clId="Web-{2AF0A566-C3E4-ED3D-F01A-00C85511E102}" dt="2026-04-01T17:34:10.176" v="0" actId="20577"/>
        <pc:sldMkLst>
          <pc:docMk/>
          <pc:sldMk cId="1766138550" sldId="256"/>
        </pc:sldMkLst>
        <pc:spChg chg="mod">
          <ac:chgData name="Fabio Bittencourt" userId="9399af9f441dfb25" providerId="Windows Live" clId="Web-{2AF0A566-C3E4-ED3D-F01A-00C85511E102}" dt="2026-04-01T17:34:10.176" v="0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ord">
        <pc:chgData name="Fabio Bittencourt" userId="9399af9f441dfb25" providerId="Windows Live" clId="Web-{2AF0A566-C3E4-ED3D-F01A-00C85511E102}" dt="2026-04-01T17:36:36.429" v="24" actId="20577"/>
        <pc:sldMkLst>
          <pc:docMk/>
          <pc:sldMk cId="850751447" sldId="358"/>
        </pc:sldMkLst>
        <pc:spChg chg="mod">
          <ac:chgData name="Fabio Bittencourt" userId="9399af9f441dfb25" providerId="Windows Live" clId="Web-{2AF0A566-C3E4-ED3D-F01A-00C85511E102}" dt="2026-04-01T17:36:36.429" v="24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modSp add ord replId">
        <pc:chgData name="Fabio Bittencourt" userId="9399af9f441dfb25" providerId="Windows Live" clId="Web-{2AF0A566-C3E4-ED3D-F01A-00C85511E102}" dt="2026-04-01T17:44:09.229" v="568" actId="20577"/>
        <pc:sldMkLst>
          <pc:docMk/>
          <pc:sldMk cId="1606239993" sldId="364"/>
        </pc:sldMkLst>
        <pc:spChg chg="mod">
          <ac:chgData name="Fabio Bittencourt" userId="9399af9f441dfb25" providerId="Windows Live" clId="Web-{2AF0A566-C3E4-ED3D-F01A-00C85511E102}" dt="2026-04-01T17:37:07.476" v="41" actId="20577"/>
          <ac:spMkLst>
            <pc:docMk/>
            <pc:sldMk cId="1606239993" sldId="364"/>
            <ac:spMk id="4" creationId="{D036ECE1-321E-8DF3-5D06-B719C29C0F6B}"/>
          </ac:spMkLst>
        </pc:spChg>
        <pc:spChg chg="mod">
          <ac:chgData name="Fabio Bittencourt" userId="9399af9f441dfb25" providerId="Windows Live" clId="Web-{2AF0A566-C3E4-ED3D-F01A-00C85511E102}" dt="2026-04-01T17:44:09.229" v="568" actId="20577"/>
          <ac:spMkLst>
            <pc:docMk/>
            <pc:sldMk cId="1606239993" sldId="364"/>
            <ac:spMk id="6" creationId="{D8124009-02A9-177C-3F54-950A3298EB93}"/>
          </ac:spMkLst>
        </pc:spChg>
      </pc:sldChg>
    </pc:docChg>
  </pc:docChgLst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4-12T21:26:35.507" v="21671" actId="6549"/>
      <pc:docMkLst>
        <pc:docMk/>
      </pc:docMkLst>
      <pc:sldChg chg="modSp add del mod">
        <pc:chgData name="Fabio Bittencourt" userId="9399af9f441dfb25" providerId="LiveId" clId="{87FEEC51-4A4D-4000-AFF7-19B075429E2B}" dt="2026-04-12T18:13:45.505" v="14419" actId="20577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4-12T18:13:45.505" v="14419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664982127" sldId="262"/>
        </pc:sldMkLst>
      </pc:sldChg>
      <pc:sldChg chg="modSp add mod">
        <pc:chgData name="Fabio Bittencourt" userId="9399af9f441dfb25" providerId="LiveId" clId="{87FEEC51-4A4D-4000-AFF7-19B075429E2B}" dt="2026-04-12T21:26:35.507" v="21671" actId="6549"/>
        <pc:sldMkLst>
          <pc:docMk/>
          <pc:sldMk cId="2629856369" sldId="311"/>
        </pc:sldMkLst>
        <pc:spChg chg="mod">
          <ac:chgData name="Fabio Bittencourt" userId="9399af9f441dfb25" providerId="LiveId" clId="{87FEEC51-4A4D-4000-AFF7-19B075429E2B}" dt="2026-04-12T21:26:35.507" v="21671" actId="6549"/>
          <ac:spMkLst>
            <pc:docMk/>
            <pc:sldMk cId="2629856369" sldId="311"/>
            <ac:spMk id="6" creationId="{8A0BAE10-A955-4236-9445-F72EEE14E523}"/>
          </ac:spMkLst>
        </pc:spChg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108065391" sldId="312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750185819" sldId="313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948230643" sldId="321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590022433" sldId="329"/>
        </pc:sldMkLst>
      </pc:sldChg>
      <pc:sldChg chg="add">
        <pc:chgData name="Fabio Bittencourt" userId="9399af9f441dfb25" providerId="LiveId" clId="{87FEEC51-4A4D-4000-AFF7-19B075429E2B}" dt="2026-04-12T21:24:56.183" v="21521"/>
        <pc:sldMkLst>
          <pc:docMk/>
          <pc:sldMk cId="2592051498" sldId="331"/>
        </pc:sldMkLst>
      </pc:sldChg>
      <pc:sldChg chg="add">
        <pc:chgData name="Fabio Bittencourt" userId="9399af9f441dfb25" providerId="LiveId" clId="{87FEEC51-4A4D-4000-AFF7-19B075429E2B}" dt="2026-04-12T21:24:56.183" v="21521"/>
        <pc:sldMkLst>
          <pc:docMk/>
          <pc:sldMk cId="3143937989" sldId="332"/>
        </pc:sldMkLst>
      </pc:sldChg>
      <pc:sldChg chg="add">
        <pc:chgData name="Fabio Bittencourt" userId="9399af9f441dfb25" providerId="LiveId" clId="{87FEEC51-4A4D-4000-AFF7-19B075429E2B}" dt="2026-04-12T21:24:56.183" v="21521"/>
        <pc:sldMkLst>
          <pc:docMk/>
          <pc:sldMk cId="725884796" sldId="333"/>
        </pc:sldMkLst>
      </pc:sldChg>
      <pc:sldChg chg="add">
        <pc:chgData name="Fabio Bittencourt" userId="9399af9f441dfb25" providerId="LiveId" clId="{87FEEC51-4A4D-4000-AFF7-19B075429E2B}" dt="2026-04-12T21:24:56.183" v="21521"/>
        <pc:sldMkLst>
          <pc:docMk/>
          <pc:sldMk cId="2018831448" sldId="334"/>
        </pc:sldMkLst>
      </pc:sldChg>
      <pc:sldChg chg="add">
        <pc:chgData name="Fabio Bittencourt" userId="9399af9f441dfb25" providerId="LiveId" clId="{87FEEC51-4A4D-4000-AFF7-19B075429E2B}" dt="2026-04-12T21:24:56.183" v="21521"/>
        <pc:sldMkLst>
          <pc:docMk/>
          <pc:sldMk cId="2509973757" sldId="335"/>
        </pc:sldMkLst>
      </pc:sldChg>
      <pc:sldChg chg="add">
        <pc:chgData name="Fabio Bittencourt" userId="9399af9f441dfb25" providerId="LiveId" clId="{87FEEC51-4A4D-4000-AFF7-19B075429E2B}" dt="2026-04-12T21:24:56.183" v="21521"/>
        <pc:sldMkLst>
          <pc:docMk/>
          <pc:sldMk cId="2364201091" sldId="353"/>
        </pc:sldMkLst>
      </pc:sldChg>
      <pc:sldChg chg="add">
        <pc:chgData name="Fabio Bittencourt" userId="9399af9f441dfb25" providerId="LiveId" clId="{87FEEC51-4A4D-4000-AFF7-19B075429E2B}" dt="2026-04-12T21:24:56.183" v="21521"/>
        <pc:sldMkLst>
          <pc:docMk/>
          <pc:sldMk cId="3676448160" sldId="354"/>
        </pc:sldMkLst>
      </pc:sldChg>
      <pc:sldChg chg="modSp add del mod ord">
        <pc:chgData name="Fabio Bittencourt" userId="9399af9f441dfb25" providerId="LiveId" clId="{87FEEC51-4A4D-4000-AFF7-19B075429E2B}" dt="2026-04-12T18:13:50.369" v="14428" actId="20577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4-12T18:13:50.369" v="14428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05557431" sldId="359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3061998109" sldId="360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347726391" sldId="361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1418223151" sldId="362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4095174770" sldId="363"/>
        </pc:sldMkLst>
      </pc:sldChg>
      <pc:sldChg chg="modSp mod">
        <pc:chgData name="Fabio Bittencourt" userId="9399af9f441dfb25" providerId="LiveId" clId="{87FEEC51-4A4D-4000-AFF7-19B075429E2B}" dt="2026-04-12T18:29:28.359" v="15026" actId="5793"/>
        <pc:sldMkLst>
          <pc:docMk/>
          <pc:sldMk cId="1606239993" sldId="364"/>
        </pc:sldMkLst>
        <pc:spChg chg="mod">
          <ac:chgData name="Fabio Bittencourt" userId="9399af9f441dfb25" providerId="LiveId" clId="{87FEEC51-4A4D-4000-AFF7-19B075429E2B}" dt="2026-04-12T18:13:56.715" v="14437" actId="20577"/>
          <ac:spMkLst>
            <pc:docMk/>
            <pc:sldMk cId="1606239993" sldId="364"/>
            <ac:spMk id="4" creationId="{D036ECE1-321E-8DF3-5D06-B719C29C0F6B}"/>
          </ac:spMkLst>
        </pc:spChg>
        <pc:spChg chg="mod">
          <ac:chgData name="Fabio Bittencourt" userId="9399af9f441dfb25" providerId="LiveId" clId="{87FEEC51-4A4D-4000-AFF7-19B075429E2B}" dt="2026-04-12T18:29:28.359" v="15026" actId="5793"/>
          <ac:spMkLst>
            <pc:docMk/>
            <pc:sldMk cId="1606239993" sldId="364"/>
            <ac:spMk id="6" creationId="{D8124009-02A9-177C-3F54-950A3298EB93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225874041" sldId="365"/>
        </pc:sldMkLst>
      </pc:sldChg>
      <pc:sldChg chg="modSp add mod">
        <pc:chgData name="Fabio Bittencourt" userId="9399af9f441dfb25" providerId="LiveId" clId="{87FEEC51-4A4D-4000-AFF7-19B075429E2B}" dt="2026-04-12T21:23:57.684" v="21511" actId="20577"/>
        <pc:sldMkLst>
          <pc:docMk/>
          <pc:sldMk cId="3919729817" sldId="365"/>
        </pc:sldMkLst>
        <pc:spChg chg="mod">
          <ac:chgData name="Fabio Bittencourt" userId="9399af9f441dfb25" providerId="LiveId" clId="{87FEEC51-4A4D-4000-AFF7-19B075429E2B}" dt="2026-04-12T21:23:57.684" v="21511" actId="20577"/>
          <ac:spMkLst>
            <pc:docMk/>
            <pc:sldMk cId="3919729817" sldId="365"/>
            <ac:spMk id="6" creationId="{EFBE92FD-3EA8-32EC-80BF-C31104CA6722}"/>
          </ac:spMkLst>
        </pc:spChg>
      </pc:sldChg>
      <pc:sldChg chg="modSp add mod">
        <pc:chgData name="Fabio Bittencourt" userId="9399af9f441dfb25" providerId="LiveId" clId="{87FEEC51-4A4D-4000-AFF7-19B075429E2B}" dt="2026-04-12T18:48:03.667" v="16275" actId="6549"/>
        <pc:sldMkLst>
          <pc:docMk/>
          <pc:sldMk cId="729071451" sldId="366"/>
        </pc:sldMkLst>
        <pc:spChg chg="mod">
          <ac:chgData name="Fabio Bittencourt" userId="9399af9f441dfb25" providerId="LiveId" clId="{87FEEC51-4A4D-4000-AFF7-19B075429E2B}" dt="2026-04-12T18:48:03.667" v="16275" actId="6549"/>
          <ac:spMkLst>
            <pc:docMk/>
            <pc:sldMk cId="729071451" sldId="366"/>
            <ac:spMk id="6" creationId="{8BBFDAB8-9CD9-251E-ABB6-AF4F73422CA2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1987650763" sldId="366"/>
        </pc:sldMkLst>
      </pc:sldChg>
      <pc:sldChg chg="modSp add mod">
        <pc:chgData name="Fabio Bittencourt" userId="9399af9f441dfb25" providerId="LiveId" clId="{87FEEC51-4A4D-4000-AFF7-19B075429E2B}" dt="2026-04-12T18:58:01.936" v="17181" actId="313"/>
        <pc:sldMkLst>
          <pc:docMk/>
          <pc:sldMk cId="2296390226" sldId="367"/>
        </pc:sldMkLst>
        <pc:spChg chg="mod">
          <ac:chgData name="Fabio Bittencourt" userId="9399af9f441dfb25" providerId="LiveId" clId="{87FEEC51-4A4D-4000-AFF7-19B075429E2B}" dt="2026-04-12T18:58:01.936" v="17181" actId="313"/>
          <ac:spMkLst>
            <pc:docMk/>
            <pc:sldMk cId="2296390226" sldId="367"/>
            <ac:spMk id="6" creationId="{18B730F0-12EB-070A-5F17-96A9E617F679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700232467" sldId="367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624917076" sldId="368"/>
        </pc:sldMkLst>
      </pc:sldChg>
      <pc:sldChg chg="addSp modSp add mod">
        <pc:chgData name="Fabio Bittencourt" userId="9399af9f441dfb25" providerId="LiveId" clId="{87FEEC51-4A4D-4000-AFF7-19B075429E2B}" dt="2026-04-12T19:17:22.366" v="17911" actId="20577"/>
        <pc:sldMkLst>
          <pc:docMk/>
          <pc:sldMk cId="1026277295" sldId="368"/>
        </pc:sldMkLst>
        <pc:spChg chg="add mod">
          <ac:chgData name="Fabio Bittencourt" userId="9399af9f441dfb25" providerId="LiveId" clId="{87FEEC51-4A4D-4000-AFF7-19B075429E2B}" dt="2026-04-12T19:11:55.433" v="17648" actId="6549"/>
          <ac:spMkLst>
            <pc:docMk/>
            <pc:sldMk cId="1026277295" sldId="368"/>
            <ac:spMk id="3" creationId="{8DF7C0C4-15E9-67ED-E37B-7D4650A8C4B1}"/>
          </ac:spMkLst>
        </pc:spChg>
        <pc:spChg chg="mod">
          <ac:chgData name="Fabio Bittencourt" userId="9399af9f441dfb25" providerId="LiveId" clId="{87FEEC51-4A4D-4000-AFF7-19B075429E2B}" dt="2026-04-12T19:17:22.366" v="17911" actId="20577"/>
          <ac:spMkLst>
            <pc:docMk/>
            <pc:sldMk cId="1026277295" sldId="368"/>
            <ac:spMk id="6" creationId="{45B53673-E3C7-4492-1F76-906A5B8B9391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707765808" sldId="369"/>
        </pc:sldMkLst>
      </pc:sldChg>
      <pc:sldChg chg="delSp modSp add mod">
        <pc:chgData name="Fabio Bittencourt" userId="9399af9f441dfb25" providerId="LiveId" clId="{87FEEC51-4A4D-4000-AFF7-19B075429E2B}" dt="2026-04-12T19:43:07.293" v="18675" actId="20577"/>
        <pc:sldMkLst>
          <pc:docMk/>
          <pc:sldMk cId="3413111045" sldId="369"/>
        </pc:sldMkLst>
        <pc:spChg chg="del">
          <ac:chgData name="Fabio Bittencourt" userId="9399af9f441dfb25" providerId="LiveId" clId="{87FEEC51-4A4D-4000-AFF7-19B075429E2B}" dt="2026-04-12T19:24:35.591" v="17919" actId="478"/>
          <ac:spMkLst>
            <pc:docMk/>
            <pc:sldMk cId="3413111045" sldId="369"/>
            <ac:spMk id="3" creationId="{0B2CF915-4FCF-EE40-30A8-A71CD96EEC64}"/>
          </ac:spMkLst>
        </pc:spChg>
        <pc:spChg chg="mod">
          <ac:chgData name="Fabio Bittencourt" userId="9399af9f441dfb25" providerId="LiveId" clId="{87FEEC51-4A4D-4000-AFF7-19B075429E2B}" dt="2026-04-12T19:43:07.293" v="18675" actId="20577"/>
          <ac:spMkLst>
            <pc:docMk/>
            <pc:sldMk cId="3413111045" sldId="369"/>
            <ac:spMk id="6" creationId="{12D25695-846F-4EE3-5688-BA89645B2CFE}"/>
          </ac:spMkLst>
        </pc:spChg>
      </pc:sldChg>
      <pc:sldChg chg="addSp delSp modSp add mod ord">
        <pc:chgData name="Fabio Bittencourt" userId="9399af9f441dfb25" providerId="LiveId" clId="{87FEEC51-4A4D-4000-AFF7-19B075429E2B}" dt="2026-04-12T20:29:18.007" v="19859" actId="1076"/>
        <pc:sldMkLst>
          <pc:docMk/>
          <pc:sldMk cId="1643523888" sldId="370"/>
        </pc:sldMkLst>
        <pc:spChg chg="mod">
          <ac:chgData name="Fabio Bittencourt" userId="9399af9f441dfb25" providerId="LiveId" clId="{87FEEC51-4A4D-4000-AFF7-19B075429E2B}" dt="2026-04-12T20:27:16.149" v="19842" actId="20577"/>
          <ac:spMkLst>
            <pc:docMk/>
            <pc:sldMk cId="1643523888" sldId="370"/>
            <ac:spMk id="6" creationId="{692E9ACE-2D2A-D732-623A-ADE2D1910C56}"/>
          </ac:spMkLst>
        </pc:spChg>
        <pc:picChg chg="add mod">
          <ac:chgData name="Fabio Bittencourt" userId="9399af9f441dfb25" providerId="LiveId" clId="{87FEEC51-4A4D-4000-AFF7-19B075429E2B}" dt="2026-04-12T20:27:55.424" v="19847" actId="1076"/>
          <ac:picMkLst>
            <pc:docMk/>
            <pc:sldMk cId="1643523888" sldId="370"/>
            <ac:picMk id="3" creationId="{9A71265F-BEB0-F5D0-DB8A-C88568318494}"/>
          </ac:picMkLst>
        </pc:picChg>
        <pc:picChg chg="add del mod">
          <ac:chgData name="Fabio Bittencourt" userId="9399af9f441dfb25" providerId="LiveId" clId="{87FEEC51-4A4D-4000-AFF7-19B075429E2B}" dt="2026-04-12T20:28:32.655" v="19852" actId="478"/>
          <ac:picMkLst>
            <pc:docMk/>
            <pc:sldMk cId="1643523888" sldId="370"/>
            <ac:picMk id="7" creationId="{31F828D8-730F-24CD-246E-BB357E0E22A9}"/>
          </ac:picMkLst>
        </pc:picChg>
        <pc:picChg chg="add del mod">
          <ac:chgData name="Fabio Bittencourt" userId="9399af9f441dfb25" providerId="LiveId" clId="{87FEEC51-4A4D-4000-AFF7-19B075429E2B}" dt="2026-04-12T20:28:49.619" v="19855" actId="478"/>
          <ac:picMkLst>
            <pc:docMk/>
            <pc:sldMk cId="1643523888" sldId="370"/>
            <ac:picMk id="9" creationId="{76D348A6-ED1B-BBC5-49B1-0B05DEDA4B6F}"/>
          </ac:picMkLst>
        </pc:picChg>
        <pc:picChg chg="add mod">
          <ac:chgData name="Fabio Bittencourt" userId="9399af9f441dfb25" providerId="LiveId" clId="{87FEEC51-4A4D-4000-AFF7-19B075429E2B}" dt="2026-04-12T20:29:18.007" v="19859" actId="1076"/>
          <ac:picMkLst>
            <pc:docMk/>
            <pc:sldMk cId="1643523888" sldId="370"/>
            <ac:picMk id="11" creationId="{CD440A41-B5F2-F3DD-27CE-918B8CE751BD}"/>
          </ac:picMkLst>
        </pc:pic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1671104969" sldId="370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407840775" sldId="371"/>
        </pc:sldMkLst>
      </pc:sldChg>
      <pc:sldChg chg="modSp add mod">
        <pc:chgData name="Fabio Bittencourt" userId="9399af9f441dfb25" providerId="LiveId" clId="{87FEEC51-4A4D-4000-AFF7-19B075429E2B}" dt="2026-04-12T19:52:45.057" v="19289" actId="255"/>
        <pc:sldMkLst>
          <pc:docMk/>
          <pc:sldMk cId="977118573" sldId="371"/>
        </pc:sldMkLst>
        <pc:spChg chg="mod">
          <ac:chgData name="Fabio Bittencourt" userId="9399af9f441dfb25" providerId="LiveId" clId="{87FEEC51-4A4D-4000-AFF7-19B075429E2B}" dt="2026-04-12T19:52:45.057" v="19289" actId="255"/>
          <ac:spMkLst>
            <pc:docMk/>
            <pc:sldMk cId="977118573" sldId="371"/>
            <ac:spMk id="6" creationId="{CA753917-2009-D452-87DF-F3AF61B2D528}"/>
          </ac:spMkLst>
        </pc:spChg>
      </pc:sldChg>
      <pc:sldChg chg="delSp modSp add mod">
        <pc:chgData name="Fabio Bittencourt" userId="9399af9f441dfb25" providerId="LiveId" clId="{87FEEC51-4A4D-4000-AFF7-19B075429E2B}" dt="2026-04-12T20:54:40.899" v="20720" actId="20577"/>
        <pc:sldMkLst>
          <pc:docMk/>
          <pc:sldMk cId="37589250" sldId="372"/>
        </pc:sldMkLst>
        <pc:spChg chg="mod">
          <ac:chgData name="Fabio Bittencourt" userId="9399af9f441dfb25" providerId="LiveId" clId="{87FEEC51-4A4D-4000-AFF7-19B075429E2B}" dt="2026-04-12T20:54:40.899" v="20720" actId="20577"/>
          <ac:spMkLst>
            <pc:docMk/>
            <pc:sldMk cId="37589250" sldId="372"/>
            <ac:spMk id="6" creationId="{479CC5F2-3C0D-9935-37BD-FBA933B03489}"/>
          </ac:spMkLst>
        </pc:spChg>
        <pc:picChg chg="del">
          <ac:chgData name="Fabio Bittencourt" userId="9399af9f441dfb25" providerId="LiveId" clId="{87FEEC51-4A4D-4000-AFF7-19B075429E2B}" dt="2026-04-12T20:38:20.592" v="19863" actId="478"/>
          <ac:picMkLst>
            <pc:docMk/>
            <pc:sldMk cId="37589250" sldId="372"/>
            <ac:picMk id="3" creationId="{F73782ED-2CA0-9FCC-CE30-4F62B5E022F1}"/>
          </ac:picMkLst>
        </pc:picChg>
        <pc:picChg chg="del">
          <ac:chgData name="Fabio Bittencourt" userId="9399af9f441dfb25" providerId="LiveId" clId="{87FEEC51-4A4D-4000-AFF7-19B075429E2B}" dt="2026-04-12T20:38:19.889" v="19862" actId="478"/>
          <ac:picMkLst>
            <pc:docMk/>
            <pc:sldMk cId="37589250" sldId="372"/>
            <ac:picMk id="11" creationId="{04ED669A-B8E1-0DA2-5178-9C3225828BF7}"/>
          </ac:picMkLst>
        </pc:pic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733412145" sldId="372"/>
        </pc:sldMkLst>
      </pc:sldChg>
      <pc:sldChg chg="modSp add mod">
        <pc:chgData name="Fabio Bittencourt" userId="9399af9f441dfb25" providerId="LiveId" clId="{87FEEC51-4A4D-4000-AFF7-19B075429E2B}" dt="2026-04-12T20:57:47.988" v="21056" actId="20577"/>
        <pc:sldMkLst>
          <pc:docMk/>
          <pc:sldMk cId="2059148936" sldId="373"/>
        </pc:sldMkLst>
        <pc:spChg chg="mod">
          <ac:chgData name="Fabio Bittencourt" userId="9399af9f441dfb25" providerId="LiveId" clId="{87FEEC51-4A4D-4000-AFF7-19B075429E2B}" dt="2026-04-12T20:57:47.988" v="21056" actId="20577"/>
          <ac:spMkLst>
            <pc:docMk/>
            <pc:sldMk cId="2059148936" sldId="373"/>
            <ac:spMk id="6" creationId="{21CE823E-C4AE-CCDC-C7B6-7FCC48436095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2731909001" sldId="373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1092723661" sldId="374"/>
        </pc:sldMkLst>
      </pc:sldChg>
      <pc:sldChg chg="modSp add del mod">
        <pc:chgData name="Fabio Bittencourt" userId="9399af9f441dfb25" providerId="LiveId" clId="{87FEEC51-4A4D-4000-AFF7-19B075429E2B}" dt="2026-04-12T21:23:46.863" v="21505" actId="47"/>
        <pc:sldMkLst>
          <pc:docMk/>
          <pc:sldMk cId="2078618535" sldId="374"/>
        </pc:sldMkLst>
        <pc:spChg chg="mod">
          <ac:chgData name="Fabio Bittencourt" userId="9399af9f441dfb25" providerId="LiveId" clId="{87FEEC51-4A4D-4000-AFF7-19B075429E2B}" dt="2026-04-12T21:22:19.748" v="21504" actId="20577"/>
          <ac:spMkLst>
            <pc:docMk/>
            <pc:sldMk cId="2078618535" sldId="374"/>
            <ac:spMk id="6" creationId="{9EDDDCBC-78D9-183D-1671-F3341CD62AC2}"/>
          </ac:spMkLst>
        </pc:spChg>
      </pc:sldChg>
      <pc:sldChg chg="modSp add del mod">
        <pc:chgData name="Fabio Bittencourt" userId="9399af9f441dfb25" providerId="LiveId" clId="{87FEEC51-4A4D-4000-AFF7-19B075429E2B}" dt="2026-04-12T21:24:55.045" v="21520" actId="47"/>
        <pc:sldMkLst>
          <pc:docMk/>
          <pc:sldMk cId="2205185190" sldId="374"/>
        </pc:sldMkLst>
        <pc:spChg chg="mod">
          <ac:chgData name="Fabio Bittencourt" userId="9399af9f441dfb25" providerId="LiveId" clId="{87FEEC51-4A4D-4000-AFF7-19B075429E2B}" dt="2026-04-12T21:24:07.992" v="21518" actId="20577"/>
          <ac:spMkLst>
            <pc:docMk/>
            <pc:sldMk cId="2205185190" sldId="374"/>
            <ac:spMk id="4" creationId="{6A6FDB23-6D38-8099-5E49-DF46C6C5D433}"/>
          </ac:spMkLst>
        </pc:spChg>
        <pc:spChg chg="mod">
          <ac:chgData name="Fabio Bittencourt" userId="9399af9f441dfb25" providerId="LiveId" clId="{87FEEC51-4A4D-4000-AFF7-19B075429E2B}" dt="2026-04-12T21:24:52.744" v="21519" actId="6549"/>
          <ac:spMkLst>
            <pc:docMk/>
            <pc:sldMk cId="2205185190" sldId="374"/>
            <ac:spMk id="6" creationId="{154D4E2E-DE26-43AB-D906-308D14ECCFC8}"/>
          </ac:spMkLst>
        </pc:spChg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4052385589" sldId="374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1328602063" sldId="375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401918893" sldId="375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448195546" sldId="376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3376788362" sldId="376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2474521378" sldId="377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3055853512" sldId="377"/>
        </pc:sldMkLst>
      </pc:sldChg>
      <pc:sldChg chg="modSp add del mod">
        <pc:chgData name="Fabio Bittencourt" userId="9399af9f441dfb25" providerId="LiveId" clId="{87FEEC51-4A4D-4000-AFF7-19B075429E2B}" dt="2026-04-12T18:14:02.978" v="14438" actId="47"/>
        <pc:sldMkLst>
          <pc:docMk/>
          <pc:sldMk cId="1838604557" sldId="378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360177565" sldId="378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682672578" sldId="379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3665010770" sldId="380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99215723" sldId="381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910829966" sldId="382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653692021" sldId="383"/>
        </pc:sldMkLst>
      </pc:sldChg>
      <pc:sldChg chg="add">
        <pc:chgData name="Fabio Bittencourt" userId="9399af9f441dfb25" providerId="LiveId" clId="{87FEEC51-4A4D-4000-AFF7-19B075429E2B}" dt="2026-04-12T21:25:41.222" v="21522"/>
        <pc:sldMkLst>
          <pc:docMk/>
          <pc:sldMk cId="2292841688" sldId="384"/>
        </pc:sldMkLst>
      </pc:sldChg>
    </pc:docChg>
  </pc:docChgLst>
  <pc:docChgLst>
    <pc:chgData name="Fabio Bittencourt" userId="9399af9f441dfb25" providerId="Windows Live" clId="Web-{DAD84DB3-91C5-7848-65C5-5D5604D12E2F}"/>
    <pc:docChg chg="addSld delSld modSld sldOrd">
      <pc:chgData name="Fabio Bittencourt" userId="9399af9f441dfb25" providerId="Windows Live" clId="Web-{DAD84DB3-91C5-7848-65C5-5D5604D12E2F}" dt="2026-03-22T18:44:50.718" v="2106" actId="20577"/>
      <pc:docMkLst>
        <pc:docMk/>
      </pc:docMkLst>
    </pc:docChg>
  </pc:docChgLst>
  <pc:docChgLst>
    <pc:chgData name="Fabio Bittencourt" userId="9399af9f441dfb25" providerId="Windows Live" clId="Web-{929FFA45-AD16-8426-4576-15CAB10173A6}"/>
    <pc:docChg chg="modSld">
      <pc:chgData name="Fabio Bittencourt" userId="9399af9f441dfb25" providerId="Windows Live" clId="Web-{929FFA45-AD16-8426-4576-15CAB10173A6}" dt="2026-04-02T16:56:02.753" v="3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Impact"/>
              </a:rPr>
              <a:t>Estatística Aplicada – Aula 8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Impact"/>
              </a:rPr>
              <a:t>Distribuições Contínuas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991C-31B7-25F5-64E6-42975334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36ECE1-321E-8DF3-5D06-B719C29C0F6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8124009-02A9-177C-3F54-950A3298E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Continuando o conteúdo da semana passada, hoje então seguimos com as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Distribuições Contínuas 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 se na última aula comentamos que as distribuições discretas possuíam valores entre 0 e 1, as distribuições contínuas tem outras características.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primeira característica é que o conjunto pode ser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infinito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e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incontável 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em suas possibilidades;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Uma outra característica, já que vocês viram muito cálculo na última semana é a de que as probabilidades são calculadas através de calculo integral.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pt-BR" dirty="0"/>
              <a:t>f(x) ≥ 0 e ∫_{-∞}^∞ f(x) </a:t>
            </a:r>
            <a:r>
              <a:rPr lang="pt-BR" dirty="0" err="1"/>
              <a:t>dx</a:t>
            </a:r>
            <a:r>
              <a:rPr lang="pt-BR" dirty="0"/>
              <a:t> =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0623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50BF7-BBCC-B40F-AD06-1A7D6A79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818D61-A6E0-098E-D3CD-5457CC74D9B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FBE92FD-3EA8-32EC-80BF-C31104CA6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As distribuições contínuas não necessariamente são utilizadas para cálculos de probabilidade somente, como vimos na última aula com as distribuições discretas;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Mas como o nome já diz, é usada para modelar medidas contínuas como temperaturas, precipitação (chuva) e aproximar distribuições discretas via teorema do limite central;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Hoje veremos quatro das mais comuns distribuições contínuas, suas características e aplicações, e ao final iremos nos aprofundar em uma que já vimos em sala de aula.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1972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D9006-4BA1-678B-CB61-507DFACA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50980E-B5C1-240C-C9AD-92D755227C5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8BBFDAB8-9CD9-251E-ABB6-AF4F73422CA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A primeira distribuição contínua é a </a:t>
                </a:r>
                <a:r>
                  <a:rPr lang="pt-BR" sz="2000" b="1" dirty="0">
                    <a:solidFill>
                      <a:srgbClr val="003958"/>
                    </a:solidFill>
                  </a:rPr>
                  <a:t>Uniforme</a:t>
                </a:r>
                <a:r>
                  <a:rPr lang="pt-BR" sz="2000" dirty="0">
                    <a:solidFill>
                      <a:srgbClr val="003958"/>
                    </a:solidFill>
                  </a:rPr>
                  <a:t>, aquela que modela eventos equiprováveis em um intervalo pré-determinado, como escolher um ponto aleatório em um mapa ou a geração de números aleatórios em software;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Sendo um pouco mais teórico, essa distribuição modela situações em todos os valores dentro de um intervalo 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[a , b] </a:t>
                </a:r>
                <a:r>
                  <a:rPr lang="pt-BR" sz="2000" dirty="0">
                    <a:solidFill>
                      <a:srgbClr val="003958"/>
                    </a:solidFill>
                  </a:rPr>
                  <a:t>são igualmente prováveis;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Para todas as distribuições que iremos ver hoje, temos o que chamamos de função densidade, e a função densidade para essa distribuição é: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lvl="1" algn="ctr"/>
                <a:r>
                  <a:rPr lang="pt-BR" i="1" dirty="0">
                    <a:solidFill>
                      <a:srgbClr val="003958"/>
                    </a:solidFill>
                  </a:rPr>
                  <a:t>f</a:t>
                </a:r>
                <a:r>
                  <a:rPr lang="pt-BR" dirty="0">
                    <a:solidFill>
                      <a:srgbClr val="003958"/>
                    </a:solidFill>
                  </a:rPr>
                  <a:t>(</a:t>
                </a:r>
                <a:r>
                  <a:rPr lang="pt-BR" i="1" dirty="0">
                    <a:solidFill>
                      <a:srgbClr val="003958"/>
                    </a:solidFill>
                  </a:rPr>
                  <a:t>x</a:t>
                </a:r>
                <a:r>
                  <a:rPr lang="pt-BR" dirty="0">
                    <a:solidFill>
                      <a:srgbClr val="003958"/>
                    </a:solidFill>
                  </a:rPr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pt-BR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rgbClr val="003958"/>
                    </a:solidFill>
                  </a:rPr>
                  <a:t>​ para </a:t>
                </a:r>
                <a:r>
                  <a:rPr lang="pt-BR" i="1" dirty="0">
                    <a:solidFill>
                      <a:srgbClr val="003958"/>
                    </a:solidFill>
                  </a:rPr>
                  <a:t>a </a:t>
                </a:r>
                <a:r>
                  <a:rPr lang="pt-BR" dirty="0">
                    <a:solidFill>
                      <a:srgbClr val="003958"/>
                    </a:solidFill>
                  </a:rPr>
                  <a:t>≤ </a:t>
                </a:r>
                <a:r>
                  <a:rPr lang="pt-BR" i="1" dirty="0">
                    <a:solidFill>
                      <a:srgbClr val="003958"/>
                    </a:solidFill>
                  </a:rPr>
                  <a:t>x </a:t>
                </a:r>
                <a:r>
                  <a:rPr lang="pt-BR" dirty="0">
                    <a:solidFill>
                      <a:srgbClr val="003958"/>
                    </a:solidFill>
                  </a:rPr>
                  <a:t>≤ </a:t>
                </a:r>
                <a:r>
                  <a:rPr lang="pt-BR" i="1" dirty="0">
                    <a:solidFill>
                      <a:srgbClr val="003958"/>
                    </a:solidFill>
                  </a:rPr>
                  <a:t>b</a:t>
                </a:r>
                <a:r>
                  <a:rPr lang="pt-BR" dirty="0">
                    <a:solidFill>
                      <a:srgbClr val="003958"/>
                    </a:solidFill>
                  </a:rPr>
                  <a:t>, </a:t>
                </a:r>
                <a:r>
                  <a:rPr lang="pt-BR" i="1" dirty="0">
                    <a:solidFill>
                      <a:srgbClr val="003958"/>
                    </a:solidFill>
                  </a:rPr>
                  <a:t>f</a:t>
                </a:r>
                <a:r>
                  <a:rPr lang="pt-BR" dirty="0">
                    <a:solidFill>
                      <a:srgbClr val="003958"/>
                    </a:solidFill>
                  </a:rPr>
                  <a:t>(</a:t>
                </a:r>
                <a:r>
                  <a:rPr lang="pt-BR" i="1" dirty="0">
                    <a:solidFill>
                      <a:srgbClr val="003958"/>
                    </a:solidFill>
                  </a:rPr>
                  <a:t>x</a:t>
                </a:r>
                <a:r>
                  <a:rPr lang="pt-BR" dirty="0">
                    <a:solidFill>
                      <a:srgbClr val="003958"/>
                    </a:solidFill>
                  </a:rPr>
                  <a:t>)=0 fora deste intervalo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lvl="1"/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8BBFDAB8-9CD9-251E-ABB6-AF4F73422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071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3F93F-911E-474C-FDD5-E2A171A0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7B41E2-4A28-2796-7280-FF2E6A1C2EA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18B730F0-12EB-070A-5F17-96A9E617F6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Imaginem o seguinte cenário: “Um elevador sempre chega entre 10 e 30 segundos após o usuário apertar o botão e assumimos que qualquer instante nesse intervalo é igualmente provável, portanto utilizando as distribuição contínua uniforme, qual a probabilidade de cada intervalo?”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Para fazer isso, vamos substituir os valores: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rgbClr val="003958"/>
                  </a:solidFill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i="1" dirty="0">
                    <a:solidFill>
                      <a:srgbClr val="003958"/>
                    </a:solidFill>
                  </a:rPr>
                  <a:t>f</a:t>
                </a:r>
                <a:r>
                  <a:rPr lang="pt-BR" dirty="0">
                    <a:solidFill>
                      <a:srgbClr val="003958"/>
                    </a:solidFill>
                  </a:rPr>
                  <a:t>(</a:t>
                </a:r>
                <a:r>
                  <a:rPr lang="pt-BR" i="1" dirty="0">
                    <a:solidFill>
                      <a:srgbClr val="003958"/>
                    </a:solidFill>
                  </a:rPr>
                  <a:t>x</a:t>
                </a:r>
                <a:r>
                  <a:rPr lang="pt-BR" dirty="0">
                    <a:solidFill>
                      <a:srgbClr val="003958"/>
                    </a:solidFill>
                  </a:rPr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pt-BR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pt-BR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rgbClr val="00395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rgbClr val="003958"/>
                    </a:solidFill>
                  </a:rPr>
                  <a:t> = 0,05 = 5% de chegar em qualquer intervalo de segundo.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pt-BR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Considerando essa lógica, façam o seguinte exercício: “Uma fábrica enche garrafas de 500ml, porém, devido a uma margem de erro a máquina enche as garrafas com o volume entre 485ml e 515ml, assumindo que qualquer valor nesse intervalo é igualmente provável, qual a probabilidade de cada intervalo?”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800100" lvl="1" indent="-342900"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lvl="1"/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18B730F0-12EB-070A-5F17-96A9E617F6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 r="-3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390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8233-E10E-82AC-2E29-278863BC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D52F8A-4EAA-97C9-740B-9D1153FE4BA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5B53673-E3C7-4492-1F76-906A5B8B9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Nossa próxima distribuição é a </a:t>
            </a:r>
            <a:r>
              <a:rPr lang="pt-BR" sz="2000" b="1" dirty="0">
                <a:solidFill>
                  <a:srgbClr val="003958"/>
                </a:solidFill>
              </a:rPr>
              <a:t>Exponencial</a:t>
            </a:r>
            <a:r>
              <a:rPr lang="pt-BR" sz="2000" dirty="0">
                <a:solidFill>
                  <a:srgbClr val="003958"/>
                </a:solidFill>
              </a:rPr>
              <a:t>, que é muito utilizada para modelar tempo entre eventos ocorrerem, como por exemplo a chegada de clientes;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Por essa característica ela é relacionada aos processos das distribuições de Poisson (discretas), quando a média for maior que 0, sendo que a função densidade para essa distribuição é a seguinte:</a:t>
            </a:r>
          </a:p>
          <a:p>
            <a:endParaRPr lang="pt-BR" sz="2000" dirty="0">
              <a:solidFill>
                <a:srgbClr val="003958"/>
              </a:solidFill>
            </a:endParaRPr>
          </a:p>
          <a:p>
            <a:pPr algn="ctr"/>
            <a:endParaRPr lang="pt-BR" sz="14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Uma observação importante sobra relação entre a distribuição de Poisson e a Exponencial, é quem em Poisson calculamos “quantos eventos em um determinado tempo”, já na exponencial medimos “quanto tempo até o próximo evento”.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DF7C0C4-15E9-67ED-E37B-7D4650A8C4B1}"/>
                  </a:ext>
                </a:extLst>
              </p:cNvPr>
              <p:cNvSpPr txBox="1"/>
              <p:nvPr/>
            </p:nvSpPr>
            <p:spPr>
              <a:xfrm>
                <a:off x="2652279" y="4125913"/>
                <a:ext cx="6094268" cy="419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/>
                <a:r>
                  <a:rPr lang="pt-BR" i="1" dirty="0">
                    <a:solidFill>
                      <a:srgbClr val="003958"/>
                    </a:solidFill>
                  </a:rPr>
                  <a:t>f</a:t>
                </a:r>
                <a:r>
                  <a:rPr lang="pt-BR" dirty="0">
                    <a:solidFill>
                      <a:srgbClr val="003958"/>
                    </a:solidFill>
                  </a:rPr>
                  <a:t>(</a:t>
                </a:r>
                <a:r>
                  <a:rPr lang="pt-BR" i="1" dirty="0">
                    <a:solidFill>
                      <a:srgbClr val="003958"/>
                    </a:solidFill>
                  </a:rPr>
                  <a:t>x</a:t>
                </a:r>
                <a:r>
                  <a:rPr lang="pt-BR" dirty="0">
                    <a:solidFill>
                      <a:srgbClr val="003958"/>
                    </a:solidFill>
                  </a:rPr>
                  <a:t>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l-GR" dirty="0">
                            <a:solidFill>
                              <a:srgbClr val="003958"/>
                            </a:solidFill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pt-BR" dirty="0">
                            <a:solidFill>
                              <a:srgbClr val="003958"/>
                            </a:solidFill>
                          </a:rPr>
                          <m:t>e</m:t>
                        </m:r>
                      </m:e>
                      <m:sup>
                        <m:r>
                          <a:rPr lang="pt-BR" b="0" i="1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dirty="0">
                            <a:solidFill>
                              <a:srgbClr val="003958"/>
                            </a:solidFill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pt-BR" b="0" i="0" dirty="0" smtClean="0">
                            <a:solidFill>
                              <a:srgbClr val="003958"/>
                            </a:solidFill>
                          </a:rPr>
                          <m:t>x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rgbClr val="003958"/>
                    </a:solidFill>
                  </a:rPr>
                  <a:t> para x ≥ 0 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DF7C0C4-15E9-67ED-E37B-7D4650A8C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279" y="4125913"/>
                <a:ext cx="6094268" cy="419474"/>
              </a:xfrm>
              <a:prstGeom prst="rect">
                <a:avLst/>
              </a:prstGeom>
              <a:blipFill>
                <a:blip r:embed="rId2"/>
                <a:stretch>
                  <a:fillRect b="-231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27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DCD91-E8CF-CBFA-DAE0-3706C10D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277B43-028C-9A4D-D467-C9B0805F4A3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12D25695-846F-4EE3-5688-BA89645B2C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Imaginem que vocês trabalham em um </a:t>
                </a:r>
                <a:r>
                  <a:rPr lang="pt-BR" sz="2000" i="1" dirty="0" err="1">
                    <a:solidFill>
                      <a:srgbClr val="003958"/>
                    </a:solidFill>
                  </a:rPr>
                  <a:t>call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 center</a:t>
                </a:r>
                <a:r>
                  <a:rPr lang="pt-BR" sz="2000" dirty="0">
                    <a:solidFill>
                      <a:srgbClr val="003958"/>
                    </a:solidFill>
                  </a:rPr>
                  <a:t> e nessa central chegam por hora em média 3 ligações, como calcularíamos a probabilidade da próxima chamada chegar em menos de 10 minutos?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Nessa questão, precisamos abstrair um pouco da teoria aqui, e dizer que além da função densidade, que também pode ser chamada de PDF, temos uma outra, chamada de CDF, que é a nossa função densidade integrada em 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F</a:t>
                </a:r>
                <a:r>
                  <a:rPr lang="pt-BR" sz="2000" dirty="0">
                    <a:solidFill>
                      <a:srgbClr val="003958"/>
                    </a:solidFill>
                  </a:rPr>
                  <a:t>(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x</a:t>
                </a:r>
                <a:r>
                  <a:rPr lang="pt-BR" sz="2000" dirty="0">
                    <a:solidFill>
                      <a:srgbClr val="003958"/>
                    </a:solidFill>
                  </a:rPr>
                  <a:t>)=∫−∞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x</a:t>
                </a:r>
                <a:r>
                  <a:rPr lang="pt-BR" sz="2000" dirty="0">
                    <a:solidFill>
                      <a:srgbClr val="003958"/>
                    </a:solidFill>
                  </a:rPr>
                  <a:t>​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f</a:t>
                </a:r>
                <a:r>
                  <a:rPr lang="pt-BR" sz="2000" dirty="0">
                    <a:solidFill>
                      <a:srgbClr val="003958"/>
                    </a:solidFill>
                  </a:rPr>
                  <a:t>(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t</a:t>
                </a:r>
                <a:r>
                  <a:rPr lang="pt-BR" sz="2000" dirty="0">
                    <a:solidFill>
                      <a:srgbClr val="003958"/>
                    </a:solidFill>
                  </a:rPr>
                  <a:t>)</a:t>
                </a:r>
                <a:r>
                  <a:rPr lang="pt-BR" sz="2000" i="1" dirty="0" err="1">
                    <a:solidFill>
                      <a:srgbClr val="003958"/>
                    </a:solidFill>
                  </a:rPr>
                  <a:t>dt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i="1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Para a distribuição Exponencial, a CDF é: 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F</a:t>
                </a:r>
                <a:r>
                  <a:rPr lang="pt-BR" sz="2000" dirty="0">
                    <a:solidFill>
                      <a:srgbClr val="003958"/>
                    </a:solidFill>
                  </a:rPr>
                  <a:t>(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x</a:t>
                </a:r>
                <a:r>
                  <a:rPr lang="pt-BR" sz="2000" dirty="0">
                    <a:solidFill>
                      <a:srgbClr val="003958"/>
                    </a:solidFill>
                  </a:rPr>
                  <a:t>)= 1−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000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sz="20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pt-BR" sz="20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E então agora podemos realizar o nosso cálculo, definindo uma a uma nossas variáveis.</a:t>
                </a:r>
              </a:p>
              <a:p>
                <a:pPr marL="800100" lvl="1" indent="-342900"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lvl="1"/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12D25695-846F-4EE3-5688-BA89645B2C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 r="-11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111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9D8C-64D1-6E7C-1D8A-F6433C75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CBD0BE-FE7C-07B5-1828-A7F963A193E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CA753917-2009-D452-87DF-F3AF61B2D5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vert="horz" lIns="91440" tIns="45720" rIns="91440" bIns="45720" rtlCol="0" anchor="t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</a:rPr>
                  <a:t>Como nossa média está em horas e nossas ligações em minutos, a primeira questão é definir qual padrão a ser utilizado, que por conveniência será </a:t>
                </a:r>
                <a:r>
                  <a:rPr lang="pt-BR" sz="2000" b="1" dirty="0">
                    <a:solidFill>
                      <a:srgbClr val="003958"/>
                    </a:solidFill>
                  </a:rPr>
                  <a:t>horas</a:t>
                </a:r>
                <a:r>
                  <a:rPr lang="pt-BR" sz="2000" dirty="0">
                    <a:solidFill>
                      <a:srgbClr val="003958"/>
                    </a:solidFill>
                  </a:rPr>
                  <a:t>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Portanto, nossa média está definida,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>
                        <a:solidFill>
                          <a:srgbClr val="003958"/>
                        </a:solidFill>
                      </a:rPr>
                      <m:t>λ</m:t>
                    </m:r>
                    <m:r>
                      <m:rPr>
                        <m:nor/>
                      </m:rPr>
                      <a:rPr lang="pt-BR" sz="2000" b="0" i="0" dirty="0" smtClean="0">
                        <a:solidFill>
                          <a:srgbClr val="003958"/>
                        </a:solidFill>
                      </a:rPr>
                      <m:t> = 3</m:t>
                    </m:r>
                  </m:oMath>
                </a14:m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E o nosso x então, que inicialmente é de 10 minutos, pode ser definido em horas em 1/6, portanto, x = 1/6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Nossa, fórmula, substituindo os valores então fica dessa forma: 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F</a:t>
                </a:r>
                <a:r>
                  <a:rPr lang="pt-BR" sz="2000" dirty="0">
                    <a:solidFill>
                      <a:srgbClr val="003958"/>
                    </a:solidFill>
                  </a:rPr>
                  <a:t>(</a:t>
                </a:r>
                <a:r>
                  <a:rPr lang="pt-BR" sz="2000" i="1" dirty="0">
                    <a:solidFill>
                      <a:srgbClr val="003958"/>
                    </a:solidFill>
                  </a:rPr>
                  <a:t>x</a:t>
                </a:r>
                <a:r>
                  <a:rPr lang="pt-BR" sz="2000" dirty="0">
                    <a:solidFill>
                      <a:srgbClr val="003958"/>
                    </a:solidFill>
                  </a:rPr>
                  <a:t>)= 1−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0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3 .  1/6</m:t>
                        </m:r>
                      </m:sup>
                    </m:sSup>
                  </m:oMath>
                </a14:m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Portanto nosso cálculo fica: </a:t>
                </a:r>
                <a:r>
                  <a:rPr lang="pt-BR" sz="1800" i="1" dirty="0">
                    <a:solidFill>
                      <a:srgbClr val="003958"/>
                    </a:solidFill>
                  </a:rPr>
                  <a:t>F</a:t>
                </a:r>
                <a:r>
                  <a:rPr lang="pt-BR" sz="1800" dirty="0">
                    <a:solidFill>
                      <a:srgbClr val="003958"/>
                    </a:solidFill>
                  </a:rPr>
                  <a:t>(</a:t>
                </a:r>
                <a:r>
                  <a:rPr lang="pt-BR" sz="1800" i="1" dirty="0">
                    <a:solidFill>
                      <a:srgbClr val="003958"/>
                    </a:solidFill>
                  </a:rPr>
                  <a:t>x</a:t>
                </a:r>
                <a:r>
                  <a:rPr lang="pt-BR" sz="1800" dirty="0">
                    <a:solidFill>
                      <a:srgbClr val="003958"/>
                    </a:solidFill>
                  </a:rPr>
                  <a:t>)= 1−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8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−3 .  1/6</m:t>
                        </m:r>
                      </m:sup>
                    </m:sSup>
                  </m:oMath>
                </a14:m>
                <a:r>
                  <a:rPr lang="pt-BR" sz="18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 </a:t>
                </a:r>
                <a:r>
                  <a:rPr lang="pt-BR" sz="1800" dirty="0">
                    <a:solidFill>
                      <a:srgbClr val="003958"/>
                    </a:solidFill>
                  </a:rPr>
                  <a:t>= 1−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8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8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800" i="1" dirty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−1/</m:t>
                        </m:r>
                        <m:r>
                          <a:rPr lang="pt-BR" sz="1800" b="0" i="1" dirty="0" smtClean="0">
                            <a:solidFill>
                              <a:srgbClr val="00395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18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 = 1 – 0,60653 = 0,39347 = 39,3%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>
                    <a:solidFill>
                      <a:srgbClr val="003958"/>
                    </a:solidFill>
                    <a:ea typeface="Calibri" panose="020F0502020204030204"/>
                    <a:cs typeface="Calibri" panose="020F0502020204030204"/>
                  </a:rPr>
                  <a:t>Dúvidas?</a:t>
                </a:r>
              </a:p>
              <a:p>
                <a:pPr marL="342900" indent="-342900">
                  <a:buChar char="•"/>
                </a:pPr>
                <a:endParaRPr lang="pt-BR" sz="18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lvl="1"/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342900" indent="-342900">
                  <a:buChar char="•"/>
                </a:pPr>
                <a:endParaRPr lang="pt-BR" sz="2200" dirty="0">
                  <a:solidFill>
                    <a:srgbClr val="003958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6" name="Espaço Reservado para Texto 5">
                <a:extLst>
                  <a:ext uri="{FF2B5EF4-FFF2-40B4-BE49-F238E27FC236}">
                    <a16:creationId xmlns:a16="http://schemas.microsoft.com/office/drawing/2014/main" id="{CA753917-2009-D452-87DF-F3AF61B2D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30" t="-1357" b="-1180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118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9BC2C-6652-2D8C-6563-E4D7CB35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4304BC-3490-1166-C58B-8A79A5A4D48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92E9ACE-2D2A-D732-623A-ADE2D1910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Nossa terceira distribuição do dia portanto é Gama, que faz uma generalização da distribuição anterior e pode modelar quantidades positivas e assimétricas e é muito utilizada no cálculo de chuvas (precipitação);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Suas fórmulas são mais complexas, sendo que temos a forma-taxa e a forma-escala.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Forma-taxa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Forma-escala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:</a:t>
            </a:r>
            <a:endParaRPr lang="pt-BR" sz="14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71265F-BEB0-F5D0-DB8A-C88568318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251" y="4032395"/>
            <a:ext cx="2809680" cy="72664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D440A41-B5F2-F3DD-27CE-918B8CE75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159" y="5248897"/>
            <a:ext cx="2809681" cy="63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23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8CED-6442-9E36-6564-37BC0F22A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C9553C-D719-245B-DA5D-6F2901D4AF2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79CC5F2-3C0D-9935-37BD-FBA933B03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Para que nossos cálculos futuros façam sentido, é necessário mais uma fórmula, a da média, mas que aqui será apresentada de forma diferente, como um produto entre forma (</a:t>
            </a:r>
            <a:r>
              <a:rPr lang="el-GR" sz="2000" dirty="0">
                <a:solidFill>
                  <a:srgbClr val="003958"/>
                </a:solidFill>
              </a:rPr>
              <a:t>α</a:t>
            </a:r>
            <a:r>
              <a:rPr lang="pt-BR" sz="2000" dirty="0">
                <a:solidFill>
                  <a:srgbClr val="003958"/>
                </a:solidFill>
              </a:rPr>
              <a:t>) e escala (</a:t>
            </a:r>
            <a:r>
              <a:rPr lang="el-GR" sz="2000" dirty="0">
                <a:solidFill>
                  <a:srgbClr val="003958"/>
                </a:solidFill>
              </a:rPr>
              <a:t>θ</a:t>
            </a:r>
            <a:r>
              <a:rPr lang="pt-BR" sz="2000" dirty="0">
                <a:solidFill>
                  <a:srgbClr val="003958"/>
                </a:solidFill>
              </a:rPr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Portanto, a média pode ser calculada como: </a:t>
            </a:r>
            <a:r>
              <a:rPr lang="el-G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μ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= </a:t>
            </a:r>
            <a:r>
              <a:rPr lang="el-GR" sz="2000" dirty="0">
                <a:solidFill>
                  <a:srgbClr val="003958"/>
                </a:solidFill>
              </a:rPr>
              <a:t>α</a:t>
            </a:r>
            <a:r>
              <a:rPr lang="pt-BR" sz="2000" dirty="0">
                <a:solidFill>
                  <a:srgbClr val="003958"/>
                </a:solidFill>
              </a:rPr>
              <a:t> * </a:t>
            </a:r>
            <a:r>
              <a:rPr lang="el-GR" sz="2000" dirty="0">
                <a:solidFill>
                  <a:srgbClr val="003958"/>
                </a:solidFill>
              </a:rPr>
              <a:t>θ</a:t>
            </a:r>
            <a:r>
              <a:rPr lang="pt-BR" sz="2000" dirty="0">
                <a:solidFill>
                  <a:srgbClr val="003958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Vamos para um exemplo então: “Suponhamos que a média diária de chuva de uma cidade é de 10mm, qual é a probabilidade de num dia qualquer desse mês chover mais de 20 mm?”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nossa fórmula é complexa e não iremos calcula-la aqui, mas antes de irmos para o Python é importante fazermos uma decomposição da média, com a fórmula que vimos anteriormente.</a:t>
            </a: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589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664A-92C2-22EE-66B3-05B3DFD9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F6386C-29C1-1618-FA5E-6E798B6ABD3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Distribuições Contínuas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1CE823E-C4AE-CCDC-C7B6-7FCC48436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</a:rPr>
              <a:t>Se a média é de 10mm, e a fórmula da média é de </a:t>
            </a:r>
            <a:r>
              <a:rPr lang="el-G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μ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= </a:t>
            </a:r>
            <a:r>
              <a:rPr lang="el-GR" sz="2000" dirty="0">
                <a:solidFill>
                  <a:srgbClr val="003958"/>
                </a:solidFill>
              </a:rPr>
              <a:t>α</a:t>
            </a:r>
            <a:r>
              <a:rPr lang="pt-BR" sz="2000" dirty="0">
                <a:solidFill>
                  <a:srgbClr val="003958"/>
                </a:solidFill>
              </a:rPr>
              <a:t> * </a:t>
            </a:r>
            <a:r>
              <a:rPr lang="el-GR" sz="2000" dirty="0">
                <a:solidFill>
                  <a:srgbClr val="003958"/>
                </a:solidFill>
              </a:rPr>
              <a:t>θ</a:t>
            </a:r>
            <a:r>
              <a:rPr lang="pt-BR" sz="2000" dirty="0">
                <a:solidFill>
                  <a:srgbClr val="003958"/>
                </a:solidFill>
              </a:rPr>
              <a:t>, podemos, definir, que é 10 = 2 * 5 e definirmos </a:t>
            </a:r>
            <a:r>
              <a:rPr lang="el-GR" sz="2000" dirty="0">
                <a:solidFill>
                  <a:srgbClr val="003958"/>
                </a:solidFill>
              </a:rPr>
              <a:t>α</a:t>
            </a:r>
            <a:r>
              <a:rPr lang="pt-BR" sz="2000" dirty="0">
                <a:solidFill>
                  <a:srgbClr val="003958"/>
                </a:solidFill>
              </a:rPr>
              <a:t> como 2 e </a:t>
            </a:r>
            <a:r>
              <a:rPr lang="el-GR" sz="2000" dirty="0">
                <a:solidFill>
                  <a:srgbClr val="003958"/>
                </a:solidFill>
              </a:rPr>
              <a:t>θ</a:t>
            </a:r>
            <a:r>
              <a:rPr lang="pt-BR" sz="2000" dirty="0">
                <a:solidFill>
                  <a:srgbClr val="003958"/>
                </a:solidFill>
              </a:rPr>
              <a:t> como 5 para prosseguirmos ao cálculo;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Esse artifício é apenas uma simplificação das fórmulas para que a gente não seja muito técnico aqui;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Agora sim, podemos ir ao Python.</a:t>
            </a: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59148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No século 19 um matemático chamado Karl Gauss popularizou um artifício estatístico chamado de </a:t>
            </a:r>
            <a:r>
              <a:rPr lang="pt-BR" sz="2200" b="1" dirty="0">
                <a:solidFill>
                  <a:srgbClr val="003958"/>
                </a:solidFill>
              </a:rPr>
              <a:t>Distribuição Normal</a:t>
            </a:r>
            <a:r>
              <a:rPr lang="pt-BR" sz="2200" dirty="0">
                <a:solidFill>
                  <a:srgbClr val="003958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modelo do Gauss define que uma distribuição normal perfeita é uma coleção de dados cuja a média seja igual 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Além disso, uma distribuição normal precisa ter uma desvio padrão maior que zero e uma média maior que zero;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Distribuições normais são “previsíveis” ou seja, se a mediana está em cima da média, isso significa que o conjunto de dados é bem conciso, com poucos outliers, ou seja é padronizado, ou melhor, é “normal”.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20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Bom agora vamos começar a identificar algumas informações que não tínhamos conhecimento até então;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primeira delas é que a nossa curva estatística não é normal, bom mas como a gente consegue ver só de olhar pra ela?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Verifiquem a imagem ao lado, ela é um exemplo perfeito de uma curva normal gaussiana.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5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As curvas normais possuem por característica serem uma </a:t>
            </a:r>
            <a:r>
              <a:rPr lang="pt-BR" sz="2200" dirty="0" err="1">
                <a:solidFill>
                  <a:srgbClr val="003958"/>
                </a:solidFill>
              </a:rPr>
              <a:t>semi-senóide</a:t>
            </a:r>
            <a:r>
              <a:rPr lang="pt-BR" sz="2200" dirty="0">
                <a:solidFill>
                  <a:srgbClr val="003958"/>
                </a:solidFill>
              </a:rPr>
              <a:t> ou se preferirem serem parecidas com um sino;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pico da curva deve estar exatamente sobre a minha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significa que do pico para a direita ou do pico para a esquerda os dados estão divididos exatamente em 50%.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3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Considerando isso como verdade, é estatisticamente provado que podemos identificar o nosso range total de dados utilizando o desvio padrão;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68% dos dados estão à um desvio padrão acima ou abaixo da minha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95% dos dados estão à dois desvios padrões acima ou abaixo da minha mediana.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8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por fim, 99,7% dos meus valores estão à 3 desvios padrões da minha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aqui o que é o perfeito (considerando a normalidade), termos um desvio padrão baixo;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 isso os valores serão muito semelhantes o que vai auxiliar demais em nossas futuras predições.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3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1880057"/>
            <a:ext cx="5264150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Esse não é o nosso caso, nós não temos uma curva normal, o que pode dificultar nossas predições;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Contudo, em aulas futuras nós iremos aprender como normalizar uma curva para que cheguemos ao nosso padrão desejado;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em frente agora, buscando novas características sobre os nossos dados.</a:t>
            </a:r>
          </a:p>
        </p:txBody>
      </p:sp>
      <p:pic>
        <p:nvPicPr>
          <p:cNvPr id="3" name="Imagem 2" descr="Gráfico, Histograma&#10;&#10;Descrição gerada automaticamente">
            <a:extLst>
              <a:ext uri="{FF2B5EF4-FFF2-40B4-BE49-F238E27FC236}">
                <a16:creationId xmlns:a16="http://schemas.microsoft.com/office/drawing/2014/main" id="{50085D50-A3BE-41AE-8E08-95D784FB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096" y="1880057"/>
            <a:ext cx="5052766" cy="392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7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Distribuição Normal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880057"/>
            <a:ext cx="10415269" cy="449171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Uma questão que pode sempre ajudar à normalizar as nossas distribuições de dados e que eu sempre menciono em sala de aula é a de que nós precisamos sempre tentar aumentar a nossa base de dados;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Seja por pesquisa ou por novas observações, trabalhar em uma base maior traz mais confiança e robustez ao trabalho que se está fazendo;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isso é comprovado matematicamente através da </a:t>
            </a:r>
            <a:r>
              <a:rPr lang="pt-BR" sz="2200" b="1" dirty="0">
                <a:solidFill>
                  <a:srgbClr val="003958"/>
                </a:solidFill>
              </a:rPr>
              <a:t>Teoria do Limite Central</a:t>
            </a:r>
            <a:r>
              <a:rPr lang="pt-BR" sz="2200" dirty="0">
                <a:solidFill>
                  <a:srgbClr val="003958"/>
                </a:solidFill>
              </a:rPr>
              <a:t>, essa teoria diz quanto maior a amostra de um conjunto de dados e mais próximo do tamanho total da população todos os conjuntos se tornam normais;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É claro que em alguns casos isso não é possível e também há conjuntos aleatórios.</a:t>
            </a:r>
          </a:p>
        </p:txBody>
      </p:sp>
    </p:spTree>
    <p:extLst>
      <p:ext uri="{BB962C8B-B14F-4D97-AF65-F5344CB8AC3E}">
        <p14:creationId xmlns:p14="http://schemas.microsoft.com/office/powerpoint/2010/main" val="367644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Mas os computadores não podem ler as imagens, então precisamos ter um código que faça a leitura das distribuições e </a:t>
            </a:r>
            <a:r>
              <a:rPr lang="pt-BR" sz="2200">
                <a:solidFill>
                  <a:srgbClr val="003958"/>
                </a:solidFill>
              </a:rPr>
              <a:t>entenda se </a:t>
            </a:r>
            <a:r>
              <a:rPr lang="pt-BR" sz="2200" dirty="0">
                <a:solidFill>
                  <a:srgbClr val="003958"/>
                </a:solidFill>
              </a:rPr>
              <a:t>uma distribuição é normal ou não;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Ou seja, se dentro dos dados coletados existem discrepâncias suficientes para dizer que as amostras coletadas estão dentro da mesma população;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Já vimos vários artifícios para testar discrepâncias na distribuição, verificamos graficamente, identificamos outliers e assim por diante.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985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Dentre os testes criados para esse fim (identificar a normalidade), temos o método de </a:t>
            </a:r>
            <a:r>
              <a:rPr lang="pt-BR" sz="2200" dirty="0" err="1">
                <a:solidFill>
                  <a:srgbClr val="003958"/>
                </a:solidFill>
              </a:rPr>
              <a:t>Kolmogorov</a:t>
            </a:r>
            <a:r>
              <a:rPr lang="pt-BR" sz="2200" dirty="0">
                <a:solidFill>
                  <a:srgbClr val="003958"/>
                </a:solidFill>
              </a:rPr>
              <a:t>-Smirnov, ou mais comumente chamado de K-S Test;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Esse teste, quando utilizado no Python, se apoia em alguns pontos: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Nível de Significância: No caso o Python usa por padrão 5%;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Quantidade de Amostra;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P-</a:t>
            </a:r>
            <a:r>
              <a:rPr lang="pt-BR" sz="2200" dirty="0" err="1">
                <a:solidFill>
                  <a:srgbClr val="003958"/>
                </a:solidFill>
              </a:rPr>
              <a:t>Value</a:t>
            </a:r>
            <a:r>
              <a:rPr lang="pt-BR" sz="2200" dirty="0">
                <a:solidFill>
                  <a:srgbClr val="003958"/>
                </a:solidFill>
              </a:rPr>
              <a:t>: Probabilidade associada ao valor calculado (Veja tabela).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identificar se uma distribuição é normal utilizando o K-S Test, jogamos os dados usando a biblioteca </a:t>
            </a:r>
            <a:r>
              <a:rPr lang="pt-BR" sz="2200" dirty="0" err="1">
                <a:solidFill>
                  <a:srgbClr val="003958"/>
                </a:solidFill>
              </a:rPr>
              <a:t>Scipy</a:t>
            </a:r>
            <a:r>
              <a:rPr lang="pt-BR" sz="2200" dirty="0">
                <a:solidFill>
                  <a:srgbClr val="003958"/>
                </a:solidFill>
              </a:rPr>
              <a:t> no teste e ele nos retornará o P-</a:t>
            </a:r>
            <a:r>
              <a:rPr lang="pt-BR" sz="2200" dirty="0" err="1">
                <a:solidFill>
                  <a:srgbClr val="003958"/>
                </a:solidFill>
              </a:rPr>
              <a:t>value</a:t>
            </a:r>
            <a:r>
              <a:rPr lang="pt-BR" sz="2200" dirty="0">
                <a:solidFill>
                  <a:srgbClr val="003958"/>
                </a:solidFill>
              </a:rPr>
              <a:t>, cabe à nós interpretarmos o resultado.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806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interpretar o resultado, </a:t>
            </a:r>
            <a:br>
              <a:rPr lang="pt-BR" sz="2200" dirty="0">
                <a:solidFill>
                  <a:srgbClr val="003958"/>
                </a:solidFill>
              </a:rPr>
            </a:br>
            <a:r>
              <a:rPr lang="pt-BR" sz="2200" dirty="0">
                <a:solidFill>
                  <a:srgbClr val="003958"/>
                </a:solidFill>
              </a:rPr>
              <a:t>temos que usar a tabela ao lado: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Onde: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 é o número de amostras;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é o nível de confiança.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Cabe lembrar também que o K-S </a:t>
            </a:r>
            <a:r>
              <a:rPr lang="pt-BR" sz="2200" dirty="0" err="1">
                <a:solidFill>
                  <a:srgbClr val="003958"/>
                </a:solidFill>
              </a:rPr>
              <a:t>test</a:t>
            </a:r>
            <a:r>
              <a:rPr lang="pt-BR" sz="2200" dirty="0">
                <a:solidFill>
                  <a:srgbClr val="003958"/>
                </a:solidFill>
              </a:rPr>
              <a:t>,</a:t>
            </a:r>
            <a:br>
              <a:rPr lang="pt-BR" sz="2200" dirty="0">
                <a:solidFill>
                  <a:srgbClr val="003958"/>
                </a:solidFill>
              </a:rPr>
            </a:br>
            <a:r>
              <a:rPr lang="pt-BR" sz="2200" dirty="0">
                <a:solidFill>
                  <a:srgbClr val="003958"/>
                </a:solidFill>
              </a:rPr>
              <a:t>é efetivo apenas para populações com</a:t>
            </a:r>
            <a:br>
              <a:rPr lang="pt-BR" sz="2200" dirty="0">
                <a:solidFill>
                  <a:srgbClr val="003958"/>
                </a:solidFill>
              </a:rPr>
            </a:br>
            <a:r>
              <a:rPr lang="pt-BR" sz="2200" dirty="0">
                <a:solidFill>
                  <a:srgbClr val="003958"/>
                </a:solidFill>
              </a:rPr>
              <a:t>N maior que 30;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Vejamos um exemplo no Python.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3FE0F7-66C6-4930-ABE5-C87C784B9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32122"/>
            <a:ext cx="4771245" cy="553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8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Até agora vimos o teste KS, que visa identificar se uma distribuição é normal ou não;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Porém, além desse teste temos outros que foram criados para contornar algumas dificuldades presentes no teste KS;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A principal dificuldade é que o teste KS é indicado para distribuições que possuam mais de 30 registros, sendo que a sua eficácia aumenta de acordo com a quantidade.</a:t>
            </a:r>
          </a:p>
        </p:txBody>
      </p:sp>
    </p:spTree>
    <p:extLst>
      <p:ext uri="{BB962C8B-B14F-4D97-AF65-F5344CB8AC3E}">
        <p14:creationId xmlns:p14="http://schemas.microsoft.com/office/powerpoint/2010/main" val="109272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Para contornar esse problema em 1965 foi proposto o teste Shapiro-Wilk, que iremos chamar de SW Teste;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No caso do SW Teste, é indicado para distribuições que possuam entre 4 e 2000 amostras, portanto consegue resolver o problema do KS Test;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intuito do teste continua o mesmo, testar a normalidade de uma distribuição;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no caso nos apoiamos nas mesmas características, porém agora de uma maneira mais fixa.</a:t>
            </a:r>
          </a:p>
        </p:txBody>
      </p:sp>
    </p:spTree>
    <p:extLst>
      <p:ext uri="{BB962C8B-B14F-4D97-AF65-F5344CB8AC3E}">
        <p14:creationId xmlns:p14="http://schemas.microsoft.com/office/powerpoint/2010/main" val="20555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Em nossa distribuição iremos sempre testar se o p-</a:t>
            </a:r>
            <a:r>
              <a:rPr lang="pt-BR" sz="2200" dirty="0" err="1">
                <a:solidFill>
                  <a:srgbClr val="003958"/>
                </a:solidFill>
              </a:rPr>
              <a:t>value</a:t>
            </a:r>
            <a:r>
              <a:rPr lang="pt-BR" sz="2200" dirty="0">
                <a:solidFill>
                  <a:srgbClr val="003958"/>
                </a:solidFill>
              </a:rPr>
              <a:t> é maior do que 0.05, essa será nossa hipótese nula;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 veremos agora um exemplo no Python.</a:t>
            </a:r>
          </a:p>
        </p:txBody>
      </p:sp>
    </p:spTree>
    <p:extLst>
      <p:ext uri="{BB962C8B-B14F-4D97-AF65-F5344CB8AC3E}">
        <p14:creationId xmlns:p14="http://schemas.microsoft.com/office/powerpoint/2010/main" val="306199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Bom, o que conseguimos ver foi que em ambos os testes, o que foi indicado é que a nossa distribuição é normal;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Considerando que para realizar previsões a distribuição precisa ser normal, o que podemos fazer, se caso ela não fosse normal, como faríamos para normalizá-la?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Aqui vão algumas </a:t>
            </a:r>
            <a:r>
              <a:rPr lang="pt-BR" sz="2200" b="1" dirty="0">
                <a:solidFill>
                  <a:srgbClr val="003958"/>
                </a:solidFill>
              </a:rPr>
              <a:t>HIPÓTESES</a:t>
            </a:r>
            <a:r>
              <a:rPr lang="pt-BR" sz="2200" dirty="0">
                <a:solidFill>
                  <a:srgbClr val="003958"/>
                </a:solidFill>
              </a:rPr>
              <a:t> de como normalizar uma distribuição, nenhuma delas é garantida, mas elas podem nos ajudar a realizar uma normalização e estruturar melhor nossos dados. </a:t>
            </a:r>
          </a:p>
        </p:txBody>
      </p:sp>
    </p:spTree>
    <p:extLst>
      <p:ext uri="{BB962C8B-B14F-4D97-AF65-F5344CB8AC3E}">
        <p14:creationId xmlns:p14="http://schemas.microsoft.com/office/powerpoint/2010/main" val="34772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A primeira delas é aumentar a nossa distribuição;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Segundo a teoria do limite central, que é inclusive de onde vem a explicação do “sino” da normalidade, quanto mais registros existirem em uma população, a tendência é que os registros fiquem muito próximos da mediana;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E isso é inclusive visto na natureza, imaginem o seguinte caso, se temos 50 pessoas a mediana da idade será uma, agora imaginem se temos 200 milhões de pessoas, a mediana será muito mais “concisa” sem grandes dispersões;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Portanto, como a principal verificação da normalidade é verificar quantos desvios padrões a distribuição se dispersa da mediana, ter uma mediana concisa melhora e muito a nossa normalidade.</a:t>
            </a:r>
          </a:p>
        </p:txBody>
      </p:sp>
    </p:spTree>
    <p:extLst>
      <p:ext uri="{BB962C8B-B14F-4D97-AF65-F5344CB8AC3E}">
        <p14:creationId xmlns:p14="http://schemas.microsoft.com/office/powerpoint/2010/main" val="294823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ver um vídeo sobre o quadro de </a:t>
            </a:r>
            <a:r>
              <a:rPr lang="pt-BR" sz="2200" dirty="0" err="1">
                <a:solidFill>
                  <a:srgbClr val="003958"/>
                </a:solidFill>
              </a:rPr>
              <a:t>Galton</a:t>
            </a:r>
            <a:r>
              <a:rPr lang="pt-BR" sz="2200" dirty="0">
                <a:solidFill>
                  <a:srgbClr val="003958"/>
                </a:solidFill>
              </a:rPr>
              <a:t> que exemplifica de forma clara como em termos práticos conseguimos verificar isso na natureza (https://www.youtube.com/</a:t>
            </a:r>
            <a:r>
              <a:rPr lang="pt-BR" sz="2200" dirty="0" err="1">
                <a:solidFill>
                  <a:srgbClr val="003958"/>
                </a:solidFill>
              </a:rPr>
              <a:t>watch?v</a:t>
            </a:r>
            <a:r>
              <a:rPr lang="pt-BR" sz="2200" dirty="0">
                <a:solidFill>
                  <a:srgbClr val="003958"/>
                </a:solidFill>
              </a:rPr>
              <a:t>=1DTRzPRfu6s);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Em relação à uma quantidade mínima de registros em uma distribuição, é importante definirmos que qualquer distribuição que possua menos de 50 registros será ineficaz em qualquer teste de normalidade;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usar uma outra distribuição então maior para refazer os testes de normalidade lá no Python;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Até agora testamos uma distribuição com 20 registros, agora iremos utilizar uma com 60 registros.</a:t>
            </a:r>
          </a:p>
        </p:txBody>
      </p:sp>
    </p:spTree>
    <p:extLst>
      <p:ext uri="{BB962C8B-B14F-4D97-AF65-F5344CB8AC3E}">
        <p14:creationId xmlns:p14="http://schemas.microsoft.com/office/powerpoint/2010/main" val="141822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Contudo vamos imaginar que no nosso caso ainda não fossa normal a minha distribuição, o que mais poderíamos fazer?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 nossa segunda dica para enfrentar dados não normais, será a substituição dos outliers, para eliminar itens que forem fora da curva;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porque conforme já conversamos em outras aulas, um outlier é um ponto fora da curva, ele não tende a ocorrer novamente, foi um caso a parte, portanto, mantê-lo na nossa distribuição para entender valores futuros só irá atrapalhar a nossa previsão;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Bom, mas dai pelo o que eu devo substituir?</a:t>
            </a:r>
          </a:p>
        </p:txBody>
      </p:sp>
    </p:spTree>
    <p:extLst>
      <p:ext uri="{BB962C8B-B14F-4D97-AF65-F5344CB8AC3E}">
        <p14:creationId xmlns:p14="http://schemas.microsoft.com/office/powerpoint/2010/main" val="409517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Essa é uma pergunta realmente difícil de ser respondida, ao longo da literatura essa questão é muito debatida, existem autores que defendem que sob nenhuma hipótese outliers devem ser desconsiderados;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Outros defendem que eles devem substituídos pelo valor médio da distribuição, o que eu particularmente não concordo, porque estamos descaracterizando e “forçando” que ela fique normal;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Já outros, e ai é uma opinião pessoal do professor, propõem uma abordagem mais suave, que é substituir o valor do outlier pelo valor limite.</a:t>
            </a:r>
          </a:p>
        </p:txBody>
      </p:sp>
    </p:spTree>
    <p:extLst>
      <p:ext uri="{BB962C8B-B14F-4D97-AF65-F5344CB8AC3E}">
        <p14:creationId xmlns:p14="http://schemas.microsoft.com/office/powerpoint/2010/main" val="132860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Quando fizemos exercícios sobre outliers definimos que um outlier é um valor que está acima de 1.5 Amplitude </a:t>
            </a:r>
            <a:r>
              <a:rPr lang="pt-BR" sz="2200" dirty="0" err="1">
                <a:solidFill>
                  <a:srgbClr val="003958"/>
                </a:solidFill>
              </a:rPr>
              <a:t>InterQuartil</a:t>
            </a:r>
            <a:r>
              <a:rPr lang="pt-BR" sz="2200" dirty="0">
                <a:solidFill>
                  <a:srgbClr val="003958"/>
                </a:solidFill>
              </a:rPr>
              <a:t> do 3º Quartil ou abaixo de 1.5 Amplitude </a:t>
            </a:r>
            <a:r>
              <a:rPr lang="pt-BR" sz="2200" dirty="0" err="1">
                <a:solidFill>
                  <a:srgbClr val="003958"/>
                </a:solidFill>
              </a:rPr>
              <a:t>InterQuartil</a:t>
            </a:r>
            <a:r>
              <a:rPr lang="pt-BR" sz="2200" dirty="0">
                <a:solidFill>
                  <a:srgbClr val="003958"/>
                </a:solidFill>
              </a:rPr>
              <a:t> do 1º Quartil;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Ou seja 1.5AIQ + Q3 é o limite superior e Q1 - 1.5AIQ é o limite inferior, portanto nessa prática os valores seriam substituídos por esses valores limites;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não descaracteriza tanto a nossa distribuição, porque mantem os valores longe da média, mas não ao ponto de distorcer a normalidade de maneira incorreta (Até porque se é um outlier ele tende a não ocorrer novamente).</a:t>
            </a:r>
          </a:p>
        </p:txBody>
      </p:sp>
    </p:spTree>
    <p:extLst>
      <p:ext uri="{BB962C8B-B14F-4D97-AF65-F5344CB8AC3E}">
        <p14:creationId xmlns:p14="http://schemas.microsoft.com/office/powerpoint/2010/main" val="244819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a nossa distribuição para ver se temos algum outlier: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Segundo o comando </a:t>
            </a:r>
            <a:r>
              <a:rPr lang="pt-BR" sz="2200" dirty="0" err="1">
                <a:solidFill>
                  <a:srgbClr val="003958"/>
                </a:solidFill>
              </a:rPr>
              <a:t>describe</a:t>
            </a:r>
            <a:r>
              <a:rPr lang="pt-BR" sz="2200" dirty="0">
                <a:solidFill>
                  <a:srgbClr val="003958"/>
                </a:solidFill>
              </a:rPr>
              <a:t> temos os seguintes dados: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Q1 – 70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Q3 – 84,25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Portanto, nossa amplitude interquartil é: 14,25, e 1.5AIQ é: 21,38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Seguindo então nossos limites são: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Lim. Inferior = 48,62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Lim. Superior = 105,63</a:t>
            </a:r>
          </a:p>
        </p:txBody>
      </p:sp>
    </p:spTree>
    <p:extLst>
      <p:ext uri="{BB962C8B-B14F-4D97-AF65-F5344CB8AC3E}">
        <p14:creationId xmlns:p14="http://schemas.microsoft.com/office/powerpoint/2010/main" val="305585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Como no próprio </a:t>
            </a:r>
            <a:r>
              <a:rPr lang="pt-BR" sz="2200" dirty="0" err="1">
                <a:solidFill>
                  <a:srgbClr val="003958"/>
                </a:solidFill>
              </a:rPr>
              <a:t>describe</a:t>
            </a:r>
            <a:r>
              <a:rPr lang="pt-BR" sz="2200" dirty="0">
                <a:solidFill>
                  <a:srgbClr val="003958"/>
                </a:solidFill>
              </a:rPr>
              <a:t> já conseguimos ver os valores máximos e mínimos de cada distribuição (100 e 58) já observamos que na nossa distribuição não existem outliers;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 imaginando que o nossos valor máximo fosse 110 e as características dos quartis se mantivessem, esse valor seria substituído pelo limite encontrado;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Fazendo com que o valor máximo não fosse mais 110 e sim 105,63 (Limite Superior Calculado);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Tudo bem, mas eu aumentei a minha distribuição, retirei ou analisei outliers e nada disso resolveu, o que mais pode ser feito?</a:t>
            </a:r>
          </a:p>
        </p:txBody>
      </p:sp>
    </p:spTree>
    <p:extLst>
      <p:ext uri="{BB962C8B-B14F-4D97-AF65-F5344CB8AC3E}">
        <p14:creationId xmlns:p14="http://schemas.microsoft.com/office/powerpoint/2010/main" val="236017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Isso realmente pode ocorrer, mesmo até depois do último passo que irei apresentar agora, e ai existem várias outras formas, menos conhecidas que possam lhes auxiliar;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que geralmente acontece é que com os passos anteriores já é possível fazer com que a distribuição é normal, mas o que eu quero dizer é que aqui é apenas um recorte, existe muito mais na estatística que pode nos ajudar;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Antes de eu passar a última forma de normalização a gente precisa voltar novamente e discutir o desvio padrão.</a:t>
            </a:r>
          </a:p>
        </p:txBody>
      </p:sp>
    </p:spTree>
    <p:extLst>
      <p:ext uri="{BB962C8B-B14F-4D97-AF65-F5344CB8AC3E}">
        <p14:creationId xmlns:p14="http://schemas.microsoft.com/office/powerpoint/2010/main" val="59002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O desvio padrão é um valor nominal que mede a dispersão, então quanto maior os valores individuais da minha distribuição (milhares, milhões) maior é o meu desvio padrão;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Quanto maior o meu desvio padrão maior a probabilidade dos meus dados estarem dispersos;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 foi proposto uma forma de “diminuir” os valores da minha distribuição para também baixar os valores do meu desvio padrão.</a:t>
            </a:r>
          </a:p>
        </p:txBody>
      </p:sp>
    </p:spTree>
    <p:extLst>
      <p:ext uri="{BB962C8B-B14F-4D97-AF65-F5344CB8AC3E}">
        <p14:creationId xmlns:p14="http://schemas.microsoft.com/office/powerpoint/2010/main" val="68267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isso começou com a aplicação de logaritmo nos valores, ou seja, aplico log em todo mundo, o meu valor nominal cai absurdamente, os dados ficam muitos mais próximos uns dos outros;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Assim a minha dispersão cai, meu desvio padrão cai, e a minha distribuição tende a ser mais “normal”;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ai se faz o que se precisa fazer com os dados “transformados” e depois reverte-se o resultado aplicando logaritmo inverso, o que faz com que a minha distribuição volte ao seu estado natural.</a:t>
            </a:r>
          </a:p>
        </p:txBody>
      </p:sp>
    </p:spTree>
    <p:extLst>
      <p:ext uri="{BB962C8B-B14F-4D97-AF65-F5344CB8AC3E}">
        <p14:creationId xmlns:p14="http://schemas.microsoft.com/office/powerpoint/2010/main" val="366501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Como as propriedades da distribuição se mantém, qualquer resultado que eu tenha nela, mesmo que transformada, tende a ser correto quando ela voltar ao seu estado natural, isso porque eu estou aplicando o mesmo padrão ao meu resultado;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Porém, só aplicando logaritmos algumas distribuições não conseguem se normalizar, então matemáticos e estatísticos propuseram outra forma de aplicar o mesmo raciocínio;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Agora aplicando a raiz quadrada em cima dos valores e após o processamento aplicar a potência.</a:t>
            </a:r>
          </a:p>
        </p:txBody>
      </p:sp>
    </p:spTree>
    <p:extLst>
      <p:ext uri="{BB962C8B-B14F-4D97-AF65-F5344CB8AC3E}">
        <p14:creationId xmlns:p14="http://schemas.microsoft.com/office/powerpoint/2010/main" val="9921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Vejam que é o mesmo raciocínio de fato, eu diminuo meus valores, porém mantenho a propriedade básica deles, diminuo a dispersão, consequentemente o desvio padrão deixando eles mais “normais”;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Interessante ver que mesmo aqui em estados tão avançados que estamos, a matemática básica lá do ginásio ainda nos ajuda a resolver problemas ultra complexos;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Tá, mas se tem duas formas pra normalizar utilizando esses artifícios matemáticos, qual que eu uso? Aplico um depois o outro? Como fazemos?</a:t>
            </a:r>
          </a:p>
        </p:txBody>
      </p:sp>
    </p:spTree>
    <p:extLst>
      <p:ext uri="{BB962C8B-B14F-4D97-AF65-F5344CB8AC3E}">
        <p14:creationId xmlns:p14="http://schemas.microsoft.com/office/powerpoint/2010/main" val="91082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Ai entra na jogada dois caras: </a:t>
            </a:r>
            <a:r>
              <a:rPr lang="en-US" sz="2200" dirty="0">
                <a:solidFill>
                  <a:srgbClr val="003958"/>
                </a:solidFill>
              </a:rPr>
              <a:t>George E. P. Box &amp; David Cox, que </a:t>
            </a:r>
            <a:r>
              <a:rPr lang="en-US" sz="2200" dirty="0" err="1">
                <a:solidFill>
                  <a:srgbClr val="003958"/>
                </a:solidFill>
              </a:rPr>
              <a:t>lá</a:t>
            </a:r>
            <a:r>
              <a:rPr lang="en-US" sz="2200" dirty="0">
                <a:solidFill>
                  <a:srgbClr val="003958"/>
                </a:solidFill>
              </a:rPr>
              <a:t> </a:t>
            </a:r>
            <a:r>
              <a:rPr lang="en-US" sz="2200" dirty="0" err="1">
                <a:solidFill>
                  <a:srgbClr val="003958"/>
                </a:solidFill>
              </a:rPr>
              <a:t>em</a:t>
            </a:r>
            <a:r>
              <a:rPr lang="en-US" sz="2200" dirty="0">
                <a:solidFill>
                  <a:srgbClr val="003958"/>
                </a:solidFill>
              </a:rPr>
              <a:t> 1964 (</a:t>
            </a:r>
            <a:r>
              <a:rPr lang="en-US" sz="2200" dirty="0" err="1">
                <a:solidFill>
                  <a:srgbClr val="003958"/>
                </a:solidFill>
              </a:rPr>
              <a:t>reparem</a:t>
            </a:r>
            <a:r>
              <a:rPr lang="en-US" sz="2200" dirty="0">
                <a:solidFill>
                  <a:srgbClr val="003958"/>
                </a:solidFill>
              </a:rPr>
              <a:t> o </a:t>
            </a:r>
            <a:r>
              <a:rPr lang="en-US" sz="2200" dirty="0" err="1">
                <a:solidFill>
                  <a:srgbClr val="003958"/>
                </a:solidFill>
              </a:rPr>
              <a:t>quão</a:t>
            </a:r>
            <a:r>
              <a:rPr lang="en-US" sz="2200" dirty="0">
                <a:solidFill>
                  <a:srgbClr val="003958"/>
                </a:solidFill>
              </a:rPr>
              <a:t> </a:t>
            </a:r>
            <a:r>
              <a:rPr lang="en-US" sz="2200" dirty="0" err="1">
                <a:solidFill>
                  <a:srgbClr val="003958"/>
                </a:solidFill>
              </a:rPr>
              <a:t>longe</a:t>
            </a:r>
            <a:r>
              <a:rPr lang="en-US" sz="2200" dirty="0">
                <a:solidFill>
                  <a:srgbClr val="003958"/>
                </a:solidFill>
              </a:rPr>
              <a:t> </a:t>
            </a:r>
            <a:r>
              <a:rPr lang="en-US" sz="2200" dirty="0" err="1">
                <a:solidFill>
                  <a:srgbClr val="003958"/>
                </a:solidFill>
              </a:rPr>
              <a:t>estamos</a:t>
            </a:r>
            <a:r>
              <a:rPr lang="en-US" sz="2200" dirty="0">
                <a:solidFill>
                  <a:srgbClr val="003958"/>
                </a:solidFill>
              </a:rPr>
              <a:t> da </a:t>
            </a:r>
            <a:r>
              <a:rPr lang="en-US" sz="2200" dirty="0" err="1">
                <a:solidFill>
                  <a:srgbClr val="003958"/>
                </a:solidFill>
              </a:rPr>
              <a:t>proposta</a:t>
            </a:r>
            <a:r>
              <a:rPr lang="en-US" sz="2200" dirty="0">
                <a:solidFill>
                  <a:srgbClr val="003958"/>
                </a:solidFill>
              </a:rPr>
              <a:t> deles e </a:t>
            </a:r>
            <a:r>
              <a:rPr lang="en-US" sz="2200" dirty="0" err="1">
                <a:solidFill>
                  <a:srgbClr val="003958"/>
                </a:solidFill>
              </a:rPr>
              <a:t>ainda</a:t>
            </a:r>
            <a:r>
              <a:rPr lang="en-US" sz="2200" dirty="0">
                <a:solidFill>
                  <a:srgbClr val="003958"/>
                </a:solidFill>
              </a:rPr>
              <a:t> </a:t>
            </a:r>
            <a:r>
              <a:rPr lang="en-US" sz="2200" dirty="0" err="1">
                <a:solidFill>
                  <a:srgbClr val="003958"/>
                </a:solidFill>
              </a:rPr>
              <a:t>nos</a:t>
            </a:r>
            <a:r>
              <a:rPr lang="en-US" sz="2200" dirty="0">
                <a:solidFill>
                  <a:srgbClr val="003958"/>
                </a:solidFill>
              </a:rPr>
              <a:t> é </a:t>
            </a:r>
            <a:r>
              <a:rPr lang="en-US" sz="2200" dirty="0" err="1">
                <a:solidFill>
                  <a:srgbClr val="003958"/>
                </a:solidFill>
              </a:rPr>
              <a:t>bastante</a:t>
            </a:r>
            <a:r>
              <a:rPr lang="en-US" sz="2200" dirty="0">
                <a:solidFill>
                  <a:srgbClr val="003958"/>
                </a:solidFill>
              </a:rPr>
              <a:t> </a:t>
            </a:r>
            <a:r>
              <a:rPr lang="en-US" sz="2200" dirty="0" err="1">
                <a:solidFill>
                  <a:srgbClr val="003958"/>
                </a:solidFill>
              </a:rPr>
              <a:t>útil</a:t>
            </a:r>
            <a:r>
              <a:rPr lang="en-US" sz="2200" dirty="0">
                <a:solidFill>
                  <a:srgbClr val="003958"/>
                </a:solidFill>
              </a:rPr>
              <a:t>)</a:t>
            </a:r>
            <a:r>
              <a:rPr lang="pt-BR" sz="2200" dirty="0">
                <a:solidFill>
                  <a:srgbClr val="003958"/>
                </a:solidFill>
              </a:rPr>
              <a:t>, propuseram um modelo que calcula de acordo com a distribuição, qual aplicação (logaritmo ou raiz) a sua distribuição se dá melhor;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ai criaram a transformação de box-</a:t>
            </a:r>
            <a:r>
              <a:rPr lang="pt-BR" sz="2200" dirty="0" err="1">
                <a:solidFill>
                  <a:srgbClr val="003958"/>
                </a:solidFill>
              </a:rPr>
              <a:t>cox</a:t>
            </a:r>
            <a:r>
              <a:rPr lang="pt-BR" sz="2200" dirty="0">
                <a:solidFill>
                  <a:srgbClr val="003958"/>
                </a:solidFill>
              </a:rPr>
              <a:t>, que já transforma a sua distribuição em algo mais próximo do normal, aplicando logaritmo, raiz (ou um misto dos dois);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 no </a:t>
            </a:r>
            <a:r>
              <a:rPr lang="pt-BR" sz="2200" dirty="0" err="1">
                <a:solidFill>
                  <a:srgbClr val="003958"/>
                </a:solidFill>
              </a:rPr>
              <a:t>python</a:t>
            </a:r>
            <a:r>
              <a:rPr lang="pt-BR" sz="2200" dirty="0">
                <a:solidFill>
                  <a:srgbClr val="003958"/>
                </a:solidFill>
              </a:rPr>
              <a:t> isso é muito fácil de ser realizado, vamos ver como aplicar o box-</a:t>
            </a:r>
            <a:r>
              <a:rPr lang="pt-BR" sz="2200" dirty="0" err="1">
                <a:solidFill>
                  <a:srgbClr val="003958"/>
                </a:solidFill>
              </a:rPr>
              <a:t>cox</a:t>
            </a:r>
            <a:r>
              <a:rPr lang="pt-BR" sz="2200" dirty="0">
                <a:solidFill>
                  <a:srgbClr val="003958"/>
                </a:solidFill>
              </a:rPr>
              <a:t> e já veremos como isso afeta nossa distribuição em relação à normalidade.</a:t>
            </a:r>
          </a:p>
        </p:txBody>
      </p:sp>
    </p:spTree>
    <p:extLst>
      <p:ext uri="{BB962C8B-B14F-4D97-AF65-F5344CB8AC3E}">
        <p14:creationId xmlns:p14="http://schemas.microsoft.com/office/powerpoint/2010/main" val="265369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Hipóteses 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Conseguimos, a nossa distribuição virou normal após aplicarmos o box-</a:t>
            </a:r>
            <a:r>
              <a:rPr lang="pt-BR" sz="2200" dirty="0" err="1">
                <a:solidFill>
                  <a:srgbClr val="003958"/>
                </a:solidFill>
              </a:rPr>
              <a:t>cox</a:t>
            </a:r>
            <a:r>
              <a:rPr lang="pt-BR" sz="2200" dirty="0">
                <a:solidFill>
                  <a:srgbClr val="003958"/>
                </a:solidFill>
              </a:rPr>
              <a:t>, então agora conseguiríamos trabalhar em cima da distribuição;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Porém se mostrássemos os dados eles não se parecem em nada com os dados originais que eu tinha, vejamos;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Portanto eu preciso inverter novamente meus dados, e por isso que tínhamos aquele lambda quando aplicamos o </a:t>
            </a:r>
            <a:r>
              <a:rPr lang="pt-BR" sz="2200" dirty="0" err="1">
                <a:solidFill>
                  <a:srgbClr val="003958"/>
                </a:solidFill>
              </a:rPr>
              <a:t>box_cox</a:t>
            </a:r>
            <a:r>
              <a:rPr lang="pt-BR" sz="2200" dirty="0">
                <a:solidFill>
                  <a:srgbClr val="003958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Vamos ver no </a:t>
            </a:r>
            <a:r>
              <a:rPr lang="pt-BR" sz="2200" dirty="0" err="1">
                <a:solidFill>
                  <a:srgbClr val="003958"/>
                </a:solidFill>
              </a:rPr>
              <a:t>python</a:t>
            </a:r>
            <a:r>
              <a:rPr lang="pt-BR" sz="2200" dirty="0">
                <a:solidFill>
                  <a:srgbClr val="003958"/>
                </a:solidFill>
              </a:rPr>
              <a:t> então como fazer isso.</a:t>
            </a:r>
          </a:p>
        </p:txBody>
      </p:sp>
    </p:spTree>
    <p:extLst>
      <p:ext uri="{BB962C8B-B14F-4D97-AF65-F5344CB8AC3E}">
        <p14:creationId xmlns:p14="http://schemas.microsoft.com/office/powerpoint/2010/main" val="229284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557"/>
    </mc:Choice>
    <mc:Fallback xmlns="">
      <p:transition spd="slow" advTm="129557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Referências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003958"/>
                </a:solidFill>
              </a:rPr>
              <a:t>VANDERPLAS, Jake. </a:t>
            </a:r>
            <a:r>
              <a:rPr lang="en-US" b="1" dirty="0">
                <a:solidFill>
                  <a:srgbClr val="003958"/>
                </a:solidFill>
              </a:rPr>
              <a:t>Python data science handbook</a:t>
            </a:r>
            <a:r>
              <a:rPr lang="en-US" dirty="0">
                <a:solidFill>
                  <a:srgbClr val="003958"/>
                </a:solidFill>
              </a:rPr>
              <a:t>: essential tools for working with data. Sebastopol, CA: </a:t>
            </a:r>
            <a:r>
              <a:rPr lang="en-US" dirty="0" err="1">
                <a:solidFill>
                  <a:srgbClr val="003958"/>
                </a:solidFill>
              </a:rPr>
              <a:t>OReilly</a:t>
            </a:r>
            <a:r>
              <a:rPr lang="en-US" dirty="0">
                <a:solidFill>
                  <a:srgbClr val="003958"/>
                </a:solidFill>
              </a:rPr>
              <a:t>, 2017. xvi, 529 p. ISBN9781491912058.</a:t>
            </a:r>
          </a:p>
        </p:txBody>
      </p:sp>
    </p:spTree>
    <p:extLst>
      <p:ext uri="{BB962C8B-B14F-4D97-AF65-F5344CB8AC3E}">
        <p14:creationId xmlns:p14="http://schemas.microsoft.com/office/powerpoint/2010/main" val="266498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18"/>
    </mc:Choice>
    <mc:Fallback xmlns="">
      <p:transition spd="slow" advTm="63218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11880</TotalTime>
  <Words>3462</Words>
  <Application>Microsoft Office PowerPoint</Application>
  <PresentationFormat>Widescreen</PresentationFormat>
  <Paragraphs>305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Impact</vt:lpstr>
      <vt:lpstr>Tema do Office</vt:lpstr>
      <vt:lpstr>Estatística Aplicada – Aula 8</vt:lpstr>
      <vt:lpstr>Distribuições Contínuas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586</cp:revision>
  <dcterms:created xsi:type="dcterms:W3CDTF">2019-02-19T21:17:49Z</dcterms:created>
  <dcterms:modified xsi:type="dcterms:W3CDTF">2026-04-12T21:26:37Z</dcterms:modified>
</cp:coreProperties>
</file>